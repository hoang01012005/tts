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144000" cy="914400"/>
          </a:xfrm>
          <a:prstGeom prst="rect">
            <a:avLst/>
          </a:prstGeom>
          <a:noFill/>
        </p:spPr>
        <p:txBody>
          <a:bodyPr wrap="square">
            <a:spAutoFit/>
          </a:bodyPr>
          <a:lstStyle/>
          <a:p>
            <a:pPr algn="l">
              <a:defRPr sz="4400" b="1">
                <a:solidFill>
                  <a:srgbClr val="38BDF8"/>
                </a:solidFill>
                <a:latin typeface="Segoe UI"/>
              </a:defRPr>
            </a:pPr>
            <a:r>
              <a:t>🎤  VITS — Text-to-Speech</a:t>
            </a:r>
          </a:p>
        </p:txBody>
      </p:sp>
      <p:sp>
        <p:nvSpPr>
          <p:cNvPr id="4" name="TextBox 3"/>
          <p:cNvSpPr txBox="1"/>
          <p:nvPr/>
        </p:nvSpPr>
        <p:spPr>
          <a:xfrm>
            <a:off x="1371600" y="2560320"/>
            <a:ext cx="9144000" cy="731520"/>
          </a:xfrm>
          <a:prstGeom prst="rect">
            <a:avLst/>
          </a:prstGeom>
          <a:noFill/>
        </p:spPr>
        <p:txBody>
          <a:bodyPr wrap="square">
            <a:spAutoFit/>
          </a:bodyPr>
          <a:lstStyle/>
          <a:p>
            <a:pPr algn="l">
              <a:defRPr sz="2800" b="0">
                <a:solidFill>
                  <a:srgbClr val="FFFFFF"/>
                </a:solidFill>
                <a:latin typeface="Segoe UI"/>
              </a:defRPr>
            </a:pPr>
            <a:r>
              <a:t>Tổng hợp giọng nói tiếng Việt bằng mô hình VITS</a:t>
            </a:r>
          </a:p>
        </p:txBody>
      </p:sp>
      <p:sp>
        <p:nvSpPr>
          <p:cNvPr id="5" name="Rectangle 4"/>
          <p:cNvSpPr/>
          <p:nvPr/>
        </p:nvSpPr>
        <p:spPr>
          <a:xfrm>
            <a:off x="1371600" y="3474720"/>
            <a:ext cx="2286000" cy="381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3840480"/>
            <a:ext cx="9144000" cy="457200"/>
          </a:xfrm>
          <a:prstGeom prst="rect">
            <a:avLst/>
          </a:prstGeom>
          <a:noFill/>
        </p:spPr>
        <p:txBody>
          <a:bodyPr wrap="square">
            <a:spAutoFit/>
          </a:bodyPr>
          <a:lstStyle/>
          <a:p>
            <a:pPr algn="l">
              <a:defRPr sz="1800" b="0">
                <a:solidFill>
                  <a:srgbClr val="B0B8C8"/>
                </a:solidFill>
                <a:latin typeface="Segoe UI"/>
              </a:defRPr>
            </a:pPr>
            <a:r>
              <a:t>Variational Inference with adversarial learning for end-to-end Text-to-Speech</a:t>
            </a:r>
          </a:p>
        </p:txBody>
      </p:sp>
      <p:sp>
        <p:nvSpPr>
          <p:cNvPr id="7" name="Rounded Rectangle 6"/>
          <p:cNvSpPr/>
          <p:nvPr/>
        </p:nvSpPr>
        <p:spPr>
          <a:xfrm>
            <a:off x="1371600" y="4754880"/>
            <a:ext cx="2194560" cy="1097280"/>
          </a:xfrm>
          <a:prstGeom prst="roundRect">
            <a:avLst>
              <a:gd name="adj" fmla="val 5000"/>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54480" y="4892040"/>
            <a:ext cx="1828800" cy="365760"/>
          </a:xfrm>
          <a:prstGeom prst="rect">
            <a:avLst/>
          </a:prstGeom>
          <a:noFill/>
        </p:spPr>
        <p:txBody>
          <a:bodyPr wrap="square">
            <a:spAutoFit/>
          </a:bodyPr>
          <a:lstStyle/>
          <a:p>
            <a:pPr algn="l">
              <a:defRPr sz="1300" b="0">
                <a:solidFill>
                  <a:srgbClr val="64748B"/>
                </a:solidFill>
                <a:latin typeface="Segoe UI"/>
              </a:defRPr>
            </a:pPr>
            <a:r>
              <a:t>📋  Framework</a:t>
            </a:r>
          </a:p>
        </p:txBody>
      </p:sp>
      <p:sp>
        <p:nvSpPr>
          <p:cNvPr id="9" name="TextBox 8"/>
          <p:cNvSpPr txBox="1"/>
          <p:nvPr/>
        </p:nvSpPr>
        <p:spPr>
          <a:xfrm>
            <a:off x="1554480" y="5257800"/>
            <a:ext cx="1828800" cy="457200"/>
          </a:xfrm>
          <a:prstGeom prst="rect">
            <a:avLst/>
          </a:prstGeom>
          <a:noFill/>
        </p:spPr>
        <p:txBody>
          <a:bodyPr wrap="square">
            <a:spAutoFit/>
          </a:bodyPr>
          <a:lstStyle/>
          <a:p>
            <a:pPr algn="l">
              <a:defRPr sz="1500" b="1">
                <a:solidFill>
                  <a:srgbClr val="FFFFFF"/>
                </a:solidFill>
                <a:latin typeface="Segoe UI"/>
              </a:defRPr>
            </a:pPr>
            <a:r>
              <a:t>Piper TTS + ONNX Runtime</a:t>
            </a:r>
          </a:p>
        </p:txBody>
      </p:sp>
      <p:sp>
        <p:nvSpPr>
          <p:cNvPr id="10" name="Rounded Rectangle 9"/>
          <p:cNvSpPr/>
          <p:nvPr/>
        </p:nvSpPr>
        <p:spPr>
          <a:xfrm>
            <a:off x="3840480" y="4754880"/>
            <a:ext cx="2194560" cy="1097280"/>
          </a:xfrm>
          <a:prstGeom prst="roundRect">
            <a:avLst>
              <a:gd name="adj" fmla="val 5000"/>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23360" y="4892040"/>
            <a:ext cx="1828800" cy="365760"/>
          </a:xfrm>
          <a:prstGeom prst="rect">
            <a:avLst/>
          </a:prstGeom>
          <a:noFill/>
        </p:spPr>
        <p:txBody>
          <a:bodyPr wrap="square">
            <a:spAutoFit/>
          </a:bodyPr>
          <a:lstStyle/>
          <a:p>
            <a:pPr algn="l">
              <a:defRPr sz="1300" b="0">
                <a:solidFill>
                  <a:srgbClr val="64748B"/>
                </a:solidFill>
                <a:latin typeface="Segoe UI"/>
              </a:defRPr>
            </a:pPr>
            <a:r>
              <a:t>🗣️  Ngôn ngữ</a:t>
            </a:r>
          </a:p>
        </p:txBody>
      </p:sp>
      <p:sp>
        <p:nvSpPr>
          <p:cNvPr id="12" name="TextBox 11"/>
          <p:cNvSpPr txBox="1"/>
          <p:nvPr/>
        </p:nvSpPr>
        <p:spPr>
          <a:xfrm>
            <a:off x="4023360" y="5257800"/>
            <a:ext cx="1828800" cy="457200"/>
          </a:xfrm>
          <a:prstGeom prst="rect">
            <a:avLst/>
          </a:prstGeom>
          <a:noFill/>
        </p:spPr>
        <p:txBody>
          <a:bodyPr wrap="square">
            <a:spAutoFit/>
          </a:bodyPr>
          <a:lstStyle/>
          <a:p>
            <a:pPr algn="l">
              <a:defRPr sz="1500" b="1">
                <a:solidFill>
                  <a:srgbClr val="FFFFFF"/>
                </a:solidFill>
                <a:latin typeface="Segoe UI"/>
              </a:defRPr>
            </a:pPr>
            <a:r>
              <a:t>Tiếng Việt (vi)</a:t>
            </a:r>
          </a:p>
        </p:txBody>
      </p:sp>
      <p:sp>
        <p:nvSpPr>
          <p:cNvPr id="13" name="Rounded Rectangle 12"/>
          <p:cNvSpPr/>
          <p:nvPr/>
        </p:nvSpPr>
        <p:spPr>
          <a:xfrm>
            <a:off x="6309360" y="4754880"/>
            <a:ext cx="2194560" cy="1097280"/>
          </a:xfrm>
          <a:prstGeom prst="roundRect">
            <a:avLst>
              <a:gd name="adj" fmla="val 5000"/>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4892040"/>
            <a:ext cx="1828800" cy="365760"/>
          </a:xfrm>
          <a:prstGeom prst="rect">
            <a:avLst/>
          </a:prstGeom>
          <a:noFill/>
        </p:spPr>
        <p:txBody>
          <a:bodyPr wrap="square">
            <a:spAutoFit/>
          </a:bodyPr>
          <a:lstStyle/>
          <a:p>
            <a:pPr algn="l">
              <a:defRPr sz="1300" b="0">
                <a:solidFill>
                  <a:srgbClr val="64748B"/>
                </a:solidFill>
                <a:latin typeface="Segoe UI"/>
              </a:defRPr>
            </a:pPr>
            <a:r>
              <a:t>📊  Dataset</a:t>
            </a:r>
          </a:p>
        </p:txBody>
      </p:sp>
      <p:sp>
        <p:nvSpPr>
          <p:cNvPr id="15" name="TextBox 14"/>
          <p:cNvSpPr txBox="1"/>
          <p:nvPr/>
        </p:nvSpPr>
        <p:spPr>
          <a:xfrm>
            <a:off x="6492240" y="5257800"/>
            <a:ext cx="1828800" cy="457200"/>
          </a:xfrm>
          <a:prstGeom prst="rect">
            <a:avLst/>
          </a:prstGeom>
          <a:noFill/>
        </p:spPr>
        <p:txBody>
          <a:bodyPr wrap="square">
            <a:spAutoFit/>
          </a:bodyPr>
          <a:lstStyle/>
          <a:p>
            <a:pPr algn="l">
              <a:defRPr sz="1500" b="1">
                <a:solidFill>
                  <a:srgbClr val="FFFFFF"/>
                </a:solidFill>
                <a:latin typeface="Segoe UI"/>
              </a:defRPr>
            </a:pPr>
            <a:r>
              <a:t>VIVOS SPK01</a:t>
            </a:r>
          </a:p>
        </p:txBody>
      </p:sp>
      <p:sp>
        <p:nvSpPr>
          <p:cNvPr id="16" name="Rounded Rectangle 15"/>
          <p:cNvSpPr/>
          <p:nvPr/>
        </p:nvSpPr>
        <p:spPr>
          <a:xfrm>
            <a:off x="8778240" y="4754880"/>
            <a:ext cx="2194560" cy="1097280"/>
          </a:xfrm>
          <a:prstGeom prst="roundRect">
            <a:avLst>
              <a:gd name="adj" fmla="val 5000"/>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0" y="4892040"/>
            <a:ext cx="1828800" cy="365760"/>
          </a:xfrm>
          <a:prstGeom prst="rect">
            <a:avLst/>
          </a:prstGeom>
          <a:noFill/>
        </p:spPr>
        <p:txBody>
          <a:bodyPr wrap="square">
            <a:spAutoFit/>
          </a:bodyPr>
          <a:lstStyle/>
          <a:p>
            <a:pPr algn="l">
              <a:defRPr sz="1300" b="0">
                <a:solidFill>
                  <a:srgbClr val="64748B"/>
                </a:solidFill>
                <a:latin typeface="Segoe UI"/>
              </a:defRPr>
            </a:pPr>
            <a:r>
              <a:t>⚙️  Model</a:t>
            </a:r>
          </a:p>
        </p:txBody>
      </p:sp>
      <p:sp>
        <p:nvSpPr>
          <p:cNvPr id="18" name="TextBox 17"/>
          <p:cNvSpPr txBox="1"/>
          <p:nvPr/>
        </p:nvSpPr>
        <p:spPr>
          <a:xfrm>
            <a:off x="8961120" y="5257800"/>
            <a:ext cx="1828800" cy="457200"/>
          </a:xfrm>
          <a:prstGeom prst="rect">
            <a:avLst/>
          </a:prstGeom>
          <a:noFill/>
        </p:spPr>
        <p:txBody>
          <a:bodyPr wrap="square">
            <a:spAutoFit/>
          </a:bodyPr>
          <a:lstStyle/>
          <a:p>
            <a:pPr algn="l">
              <a:defRPr sz="1500" b="1">
                <a:solidFill>
                  <a:srgbClr val="FFFFFF"/>
                </a:solidFill>
                <a:latin typeface="Segoe UI"/>
              </a:defRPr>
            </a:pPr>
            <a:r>
              <a:t>VITS (epoch 4988)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457200"/>
            <a:ext cx="4572000" cy="731520"/>
          </a:xfrm>
          <a:prstGeom prst="rect">
            <a:avLst/>
          </a:prstGeom>
          <a:noFill/>
        </p:spPr>
        <p:txBody>
          <a:bodyPr wrap="square">
            <a:spAutoFit/>
          </a:bodyPr>
          <a:lstStyle/>
          <a:p>
            <a:pPr algn="l">
              <a:defRPr sz="3200" b="1">
                <a:solidFill>
                  <a:srgbClr val="38BDF8"/>
                </a:solidFill>
                <a:latin typeface="Segoe UI"/>
              </a:defRPr>
            </a:pPr>
            <a:r>
              <a:t>📑  Nội dung báo cáo</a:t>
            </a:r>
          </a:p>
        </p:txBody>
      </p:sp>
      <p:sp>
        <p:nvSpPr>
          <p:cNvPr id="3" name="Rectangle 2"/>
          <p:cNvSpPr/>
          <p:nvPr/>
        </p:nvSpPr>
        <p:spPr>
          <a:xfrm>
            <a:off x="914400" y="1188720"/>
            <a:ext cx="2743200" cy="381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645920"/>
            <a:ext cx="594360" cy="594360"/>
          </a:xfrm>
          <a:prstGeom prst="roundRect">
            <a:avLst>
              <a:gd name="adj" fmla="val 5000"/>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19072"/>
            <a:ext cx="594360" cy="457200"/>
          </a:xfrm>
          <a:prstGeom prst="rect">
            <a:avLst/>
          </a:prstGeom>
          <a:noFill/>
        </p:spPr>
        <p:txBody>
          <a:bodyPr wrap="square">
            <a:spAutoFit/>
          </a:bodyPr>
          <a:lstStyle/>
          <a:p>
            <a:pPr algn="ctr">
              <a:defRPr sz="2000" b="1">
                <a:solidFill>
                  <a:srgbClr val="0F172A"/>
                </a:solidFill>
                <a:latin typeface="Segoe UI"/>
              </a:defRPr>
            </a:pPr>
            <a:r>
              <a:t>01</a:t>
            </a:r>
          </a:p>
        </p:txBody>
      </p:sp>
      <p:sp>
        <p:nvSpPr>
          <p:cNvPr id="6" name="TextBox 5"/>
          <p:cNvSpPr txBox="1"/>
          <p:nvPr/>
        </p:nvSpPr>
        <p:spPr>
          <a:xfrm>
            <a:off x="1828800" y="1664208"/>
            <a:ext cx="3657600" cy="320040"/>
          </a:xfrm>
          <a:prstGeom prst="rect">
            <a:avLst/>
          </a:prstGeom>
          <a:noFill/>
        </p:spPr>
        <p:txBody>
          <a:bodyPr wrap="square">
            <a:spAutoFit/>
          </a:bodyPr>
          <a:lstStyle/>
          <a:p>
            <a:pPr algn="l">
              <a:defRPr sz="2000" b="1">
                <a:solidFill>
                  <a:srgbClr val="FFFFFF"/>
                </a:solidFill>
                <a:latin typeface="Segoe UI"/>
              </a:defRPr>
            </a:pPr>
            <a:r>
              <a:t>Giới thiệu VITS</a:t>
            </a:r>
          </a:p>
        </p:txBody>
      </p:sp>
      <p:sp>
        <p:nvSpPr>
          <p:cNvPr id="7" name="TextBox 6"/>
          <p:cNvSpPr txBox="1"/>
          <p:nvPr/>
        </p:nvSpPr>
        <p:spPr>
          <a:xfrm>
            <a:off x="1828800" y="1965960"/>
            <a:ext cx="7315200" cy="274320"/>
          </a:xfrm>
          <a:prstGeom prst="rect">
            <a:avLst/>
          </a:prstGeom>
          <a:noFill/>
        </p:spPr>
        <p:txBody>
          <a:bodyPr wrap="square">
            <a:spAutoFit/>
          </a:bodyPr>
          <a:lstStyle/>
          <a:p>
            <a:pPr algn="l">
              <a:defRPr sz="1400" b="0">
                <a:solidFill>
                  <a:srgbClr val="64748B"/>
                </a:solidFill>
                <a:latin typeface="Segoe UI"/>
              </a:defRPr>
            </a:pPr>
            <a:r>
              <a:t>Tổng quan về mô hình VITS và ứng dụng TTS</a:t>
            </a:r>
          </a:p>
        </p:txBody>
      </p:sp>
      <p:sp>
        <p:nvSpPr>
          <p:cNvPr id="8" name="Rounded Rectangle 7"/>
          <p:cNvSpPr/>
          <p:nvPr/>
        </p:nvSpPr>
        <p:spPr>
          <a:xfrm>
            <a:off x="914400" y="2423160"/>
            <a:ext cx="594360" cy="594360"/>
          </a:xfrm>
          <a:prstGeom prst="roundRect">
            <a:avLst>
              <a:gd name="adj" fmla="val 5000"/>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96312"/>
            <a:ext cx="594360" cy="457200"/>
          </a:xfrm>
          <a:prstGeom prst="rect">
            <a:avLst/>
          </a:prstGeom>
          <a:noFill/>
        </p:spPr>
        <p:txBody>
          <a:bodyPr wrap="square">
            <a:spAutoFit/>
          </a:bodyPr>
          <a:lstStyle/>
          <a:p>
            <a:pPr algn="ctr">
              <a:defRPr sz="2000" b="1">
                <a:solidFill>
                  <a:srgbClr val="0F172A"/>
                </a:solidFill>
                <a:latin typeface="Segoe UI"/>
              </a:defRPr>
            </a:pPr>
            <a:r>
              <a:t>02</a:t>
            </a:r>
          </a:p>
        </p:txBody>
      </p:sp>
      <p:sp>
        <p:nvSpPr>
          <p:cNvPr id="10" name="TextBox 9"/>
          <p:cNvSpPr txBox="1"/>
          <p:nvPr/>
        </p:nvSpPr>
        <p:spPr>
          <a:xfrm>
            <a:off x="1828800" y="2441448"/>
            <a:ext cx="3657600" cy="320040"/>
          </a:xfrm>
          <a:prstGeom prst="rect">
            <a:avLst/>
          </a:prstGeom>
          <a:noFill/>
        </p:spPr>
        <p:txBody>
          <a:bodyPr wrap="square">
            <a:spAutoFit/>
          </a:bodyPr>
          <a:lstStyle/>
          <a:p>
            <a:pPr algn="l">
              <a:defRPr sz="2000" b="1">
                <a:solidFill>
                  <a:srgbClr val="FFFFFF"/>
                </a:solidFill>
                <a:latin typeface="Segoe UI"/>
              </a:defRPr>
            </a:pPr>
            <a:r>
              <a:t>Kiến trúc mô hình</a:t>
            </a:r>
          </a:p>
        </p:txBody>
      </p:sp>
      <p:sp>
        <p:nvSpPr>
          <p:cNvPr id="11" name="TextBox 10"/>
          <p:cNvSpPr txBox="1"/>
          <p:nvPr/>
        </p:nvSpPr>
        <p:spPr>
          <a:xfrm>
            <a:off x="1828800" y="2743200"/>
            <a:ext cx="7315200" cy="274320"/>
          </a:xfrm>
          <a:prstGeom prst="rect">
            <a:avLst/>
          </a:prstGeom>
          <a:noFill/>
        </p:spPr>
        <p:txBody>
          <a:bodyPr wrap="square">
            <a:spAutoFit/>
          </a:bodyPr>
          <a:lstStyle/>
          <a:p>
            <a:pPr algn="l">
              <a:defRPr sz="1400" b="0">
                <a:solidFill>
                  <a:srgbClr val="64748B"/>
                </a:solidFill>
                <a:latin typeface="Segoe UI"/>
              </a:defRPr>
            </a:pPr>
            <a:r>
              <a:t>Cấu trúc mạng, các thành phần chính</a:t>
            </a:r>
          </a:p>
        </p:txBody>
      </p:sp>
      <p:sp>
        <p:nvSpPr>
          <p:cNvPr id="12" name="Rounded Rectangle 11"/>
          <p:cNvSpPr/>
          <p:nvPr/>
        </p:nvSpPr>
        <p:spPr>
          <a:xfrm>
            <a:off x="914400" y="3200400"/>
            <a:ext cx="594360" cy="594360"/>
          </a:xfrm>
          <a:prstGeom prst="roundRect">
            <a:avLst>
              <a:gd name="adj" fmla="val 5000"/>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273552"/>
            <a:ext cx="594360" cy="457200"/>
          </a:xfrm>
          <a:prstGeom prst="rect">
            <a:avLst/>
          </a:prstGeom>
          <a:noFill/>
        </p:spPr>
        <p:txBody>
          <a:bodyPr wrap="square">
            <a:spAutoFit/>
          </a:bodyPr>
          <a:lstStyle/>
          <a:p>
            <a:pPr algn="ctr">
              <a:defRPr sz="2000" b="1">
                <a:solidFill>
                  <a:srgbClr val="0F172A"/>
                </a:solidFill>
                <a:latin typeface="Segoe UI"/>
              </a:defRPr>
            </a:pPr>
            <a:r>
              <a:t>03</a:t>
            </a:r>
          </a:p>
        </p:txBody>
      </p:sp>
      <p:sp>
        <p:nvSpPr>
          <p:cNvPr id="14" name="TextBox 13"/>
          <p:cNvSpPr txBox="1"/>
          <p:nvPr/>
        </p:nvSpPr>
        <p:spPr>
          <a:xfrm>
            <a:off x="1828800" y="3218688"/>
            <a:ext cx="3657600" cy="320040"/>
          </a:xfrm>
          <a:prstGeom prst="rect">
            <a:avLst/>
          </a:prstGeom>
          <a:noFill/>
        </p:spPr>
        <p:txBody>
          <a:bodyPr wrap="square">
            <a:spAutoFit/>
          </a:bodyPr>
          <a:lstStyle/>
          <a:p>
            <a:pPr algn="l">
              <a:defRPr sz="2000" b="1">
                <a:solidFill>
                  <a:srgbClr val="FFFFFF"/>
                </a:solidFill>
                <a:latin typeface="Segoe UI"/>
              </a:defRPr>
            </a:pPr>
            <a:r>
              <a:t>Dữ liệu huấn luyện</a:t>
            </a:r>
          </a:p>
        </p:txBody>
      </p:sp>
      <p:sp>
        <p:nvSpPr>
          <p:cNvPr id="15" name="TextBox 14"/>
          <p:cNvSpPr txBox="1"/>
          <p:nvPr/>
        </p:nvSpPr>
        <p:spPr>
          <a:xfrm>
            <a:off x="1828800" y="3520440"/>
            <a:ext cx="7315200" cy="274320"/>
          </a:xfrm>
          <a:prstGeom prst="rect">
            <a:avLst/>
          </a:prstGeom>
          <a:noFill/>
        </p:spPr>
        <p:txBody>
          <a:bodyPr wrap="square">
            <a:spAutoFit/>
          </a:bodyPr>
          <a:lstStyle/>
          <a:p>
            <a:pPr algn="l">
              <a:defRPr sz="1400" b="0">
                <a:solidFill>
                  <a:srgbClr val="64748B"/>
                </a:solidFill>
                <a:latin typeface="Segoe UI"/>
              </a:defRPr>
            </a:pPr>
            <a:r>
              <a:t>Dataset VIVOS, tiền xử lý dữ liệu</a:t>
            </a:r>
          </a:p>
        </p:txBody>
      </p:sp>
      <p:sp>
        <p:nvSpPr>
          <p:cNvPr id="16" name="Rounded Rectangle 15"/>
          <p:cNvSpPr/>
          <p:nvPr/>
        </p:nvSpPr>
        <p:spPr>
          <a:xfrm>
            <a:off x="914400" y="3977639"/>
            <a:ext cx="594360" cy="594360"/>
          </a:xfrm>
          <a:prstGeom prst="roundRect">
            <a:avLst>
              <a:gd name="adj" fmla="val 5000"/>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050791"/>
            <a:ext cx="594360" cy="457200"/>
          </a:xfrm>
          <a:prstGeom prst="rect">
            <a:avLst/>
          </a:prstGeom>
          <a:noFill/>
        </p:spPr>
        <p:txBody>
          <a:bodyPr wrap="square">
            <a:spAutoFit/>
          </a:bodyPr>
          <a:lstStyle/>
          <a:p>
            <a:pPr algn="ctr">
              <a:defRPr sz="2000" b="1">
                <a:solidFill>
                  <a:srgbClr val="0F172A"/>
                </a:solidFill>
                <a:latin typeface="Segoe UI"/>
              </a:defRPr>
            </a:pPr>
            <a:r>
              <a:t>04</a:t>
            </a:r>
          </a:p>
        </p:txBody>
      </p:sp>
      <p:sp>
        <p:nvSpPr>
          <p:cNvPr id="18" name="TextBox 17"/>
          <p:cNvSpPr txBox="1"/>
          <p:nvPr/>
        </p:nvSpPr>
        <p:spPr>
          <a:xfrm>
            <a:off x="1828800" y="3995927"/>
            <a:ext cx="3657600" cy="320040"/>
          </a:xfrm>
          <a:prstGeom prst="rect">
            <a:avLst/>
          </a:prstGeom>
          <a:noFill/>
        </p:spPr>
        <p:txBody>
          <a:bodyPr wrap="square">
            <a:spAutoFit/>
          </a:bodyPr>
          <a:lstStyle/>
          <a:p>
            <a:pPr algn="l">
              <a:defRPr sz="2000" b="1">
                <a:solidFill>
                  <a:srgbClr val="FFFFFF"/>
                </a:solidFill>
                <a:latin typeface="Segoe UI"/>
              </a:defRPr>
            </a:pPr>
            <a:r>
              <a:t>Quá trình huấn luyện</a:t>
            </a:r>
          </a:p>
        </p:txBody>
      </p:sp>
      <p:sp>
        <p:nvSpPr>
          <p:cNvPr id="19" name="TextBox 18"/>
          <p:cNvSpPr txBox="1"/>
          <p:nvPr/>
        </p:nvSpPr>
        <p:spPr>
          <a:xfrm>
            <a:off x="1828800" y="4297679"/>
            <a:ext cx="7315200" cy="274320"/>
          </a:xfrm>
          <a:prstGeom prst="rect">
            <a:avLst/>
          </a:prstGeom>
          <a:noFill/>
        </p:spPr>
        <p:txBody>
          <a:bodyPr wrap="square">
            <a:spAutoFit/>
          </a:bodyPr>
          <a:lstStyle/>
          <a:p>
            <a:pPr algn="l">
              <a:defRPr sz="1400" b="0">
                <a:solidFill>
                  <a:srgbClr val="64748B"/>
                </a:solidFill>
                <a:latin typeface="Segoe UI"/>
              </a:defRPr>
            </a:pPr>
            <a:r>
              <a:t>Cấu hình training, hyperparameters</a:t>
            </a:r>
          </a:p>
        </p:txBody>
      </p:sp>
      <p:sp>
        <p:nvSpPr>
          <p:cNvPr id="20" name="Rounded Rectangle 19"/>
          <p:cNvSpPr/>
          <p:nvPr/>
        </p:nvSpPr>
        <p:spPr>
          <a:xfrm>
            <a:off x="914400" y="4754880"/>
            <a:ext cx="594360" cy="594360"/>
          </a:xfrm>
          <a:prstGeom prst="roundRect">
            <a:avLst>
              <a:gd name="adj" fmla="val 5000"/>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828032"/>
            <a:ext cx="594360" cy="457200"/>
          </a:xfrm>
          <a:prstGeom prst="rect">
            <a:avLst/>
          </a:prstGeom>
          <a:noFill/>
        </p:spPr>
        <p:txBody>
          <a:bodyPr wrap="square">
            <a:spAutoFit/>
          </a:bodyPr>
          <a:lstStyle/>
          <a:p>
            <a:pPr algn="ctr">
              <a:defRPr sz="2000" b="1">
                <a:solidFill>
                  <a:srgbClr val="0F172A"/>
                </a:solidFill>
                <a:latin typeface="Segoe UI"/>
              </a:defRPr>
            </a:pPr>
            <a:r>
              <a:t>05</a:t>
            </a:r>
          </a:p>
        </p:txBody>
      </p:sp>
      <p:sp>
        <p:nvSpPr>
          <p:cNvPr id="22" name="TextBox 21"/>
          <p:cNvSpPr txBox="1"/>
          <p:nvPr/>
        </p:nvSpPr>
        <p:spPr>
          <a:xfrm>
            <a:off x="1828800" y="4773168"/>
            <a:ext cx="3657600" cy="320040"/>
          </a:xfrm>
          <a:prstGeom prst="rect">
            <a:avLst/>
          </a:prstGeom>
          <a:noFill/>
        </p:spPr>
        <p:txBody>
          <a:bodyPr wrap="square">
            <a:spAutoFit/>
          </a:bodyPr>
          <a:lstStyle/>
          <a:p>
            <a:pPr algn="l">
              <a:defRPr sz="2000" b="1">
                <a:solidFill>
                  <a:srgbClr val="FFFFFF"/>
                </a:solidFill>
                <a:latin typeface="Segoe UI"/>
              </a:defRPr>
            </a:pPr>
            <a:r>
              <a:t>Kết quả Inference</a:t>
            </a:r>
          </a:p>
        </p:txBody>
      </p:sp>
      <p:sp>
        <p:nvSpPr>
          <p:cNvPr id="23" name="TextBox 22"/>
          <p:cNvSpPr txBox="1"/>
          <p:nvPr/>
        </p:nvSpPr>
        <p:spPr>
          <a:xfrm>
            <a:off x="1828800" y="5074920"/>
            <a:ext cx="7315200" cy="274320"/>
          </a:xfrm>
          <a:prstGeom prst="rect">
            <a:avLst/>
          </a:prstGeom>
          <a:noFill/>
        </p:spPr>
        <p:txBody>
          <a:bodyPr wrap="square">
            <a:spAutoFit/>
          </a:bodyPr>
          <a:lstStyle/>
          <a:p>
            <a:pPr algn="l">
              <a:defRPr sz="1400" b="0">
                <a:solidFill>
                  <a:srgbClr val="64748B"/>
                </a:solidFill>
                <a:latin typeface="Segoe UI"/>
              </a:defRPr>
            </a:pPr>
            <a:r>
              <a:t>Đánh giá chất lượng, tốc độ tổng hợp</a:t>
            </a:r>
          </a:p>
        </p:txBody>
      </p:sp>
      <p:sp>
        <p:nvSpPr>
          <p:cNvPr id="24" name="Rounded Rectangle 23"/>
          <p:cNvSpPr/>
          <p:nvPr/>
        </p:nvSpPr>
        <p:spPr>
          <a:xfrm>
            <a:off x="914400" y="5532120"/>
            <a:ext cx="594360" cy="594360"/>
          </a:xfrm>
          <a:prstGeom prst="roundRect">
            <a:avLst>
              <a:gd name="adj" fmla="val 5000"/>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605272"/>
            <a:ext cx="594360" cy="457200"/>
          </a:xfrm>
          <a:prstGeom prst="rect">
            <a:avLst/>
          </a:prstGeom>
          <a:noFill/>
        </p:spPr>
        <p:txBody>
          <a:bodyPr wrap="square">
            <a:spAutoFit/>
          </a:bodyPr>
          <a:lstStyle/>
          <a:p>
            <a:pPr algn="ctr">
              <a:defRPr sz="2000" b="1">
                <a:solidFill>
                  <a:srgbClr val="0F172A"/>
                </a:solidFill>
                <a:latin typeface="Segoe UI"/>
              </a:defRPr>
            </a:pPr>
            <a:r>
              <a:t>06</a:t>
            </a:r>
          </a:p>
        </p:txBody>
      </p:sp>
      <p:sp>
        <p:nvSpPr>
          <p:cNvPr id="26" name="TextBox 25"/>
          <p:cNvSpPr txBox="1"/>
          <p:nvPr/>
        </p:nvSpPr>
        <p:spPr>
          <a:xfrm>
            <a:off x="1828800" y="5550408"/>
            <a:ext cx="3657600" cy="320040"/>
          </a:xfrm>
          <a:prstGeom prst="rect">
            <a:avLst/>
          </a:prstGeom>
          <a:noFill/>
        </p:spPr>
        <p:txBody>
          <a:bodyPr wrap="square">
            <a:spAutoFit/>
          </a:bodyPr>
          <a:lstStyle/>
          <a:p>
            <a:pPr algn="l">
              <a:defRPr sz="2000" b="1">
                <a:solidFill>
                  <a:srgbClr val="FFFFFF"/>
                </a:solidFill>
                <a:latin typeface="Segoe UI"/>
              </a:defRPr>
            </a:pPr>
            <a:r>
              <a:t>Demo &amp; Kết luận</a:t>
            </a:r>
          </a:p>
        </p:txBody>
      </p:sp>
      <p:sp>
        <p:nvSpPr>
          <p:cNvPr id="27" name="TextBox 26"/>
          <p:cNvSpPr txBox="1"/>
          <p:nvPr/>
        </p:nvSpPr>
        <p:spPr>
          <a:xfrm>
            <a:off x="1828800" y="5852160"/>
            <a:ext cx="7315200" cy="274320"/>
          </a:xfrm>
          <a:prstGeom prst="rect">
            <a:avLst/>
          </a:prstGeom>
          <a:noFill/>
        </p:spPr>
        <p:txBody>
          <a:bodyPr wrap="square">
            <a:spAutoFit/>
          </a:bodyPr>
          <a:lstStyle/>
          <a:p>
            <a:pPr algn="l">
              <a:defRPr sz="1400" b="0">
                <a:solidFill>
                  <a:srgbClr val="64748B"/>
                </a:solidFill>
                <a:latin typeface="Segoe UI"/>
              </a:defRPr>
            </a:pPr>
            <a:r>
              <a:t>Demo thực tế và hướng cải thiện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4572000" cy="640080"/>
          </a:xfrm>
          <a:prstGeom prst="rect">
            <a:avLst/>
          </a:prstGeom>
          <a:noFill/>
        </p:spPr>
        <p:txBody>
          <a:bodyPr wrap="square">
            <a:spAutoFit/>
          </a:bodyPr>
          <a:lstStyle/>
          <a:p>
            <a:pPr algn="l">
              <a:defRPr sz="3000" b="1">
                <a:solidFill>
                  <a:srgbClr val="38BDF8"/>
                </a:solidFill>
                <a:latin typeface="Segoe UI"/>
              </a:defRPr>
            </a:pPr>
            <a:r>
              <a:t>01 — Giới thiệu VITS</a:t>
            </a:r>
          </a:p>
        </p:txBody>
      </p:sp>
      <p:sp>
        <p:nvSpPr>
          <p:cNvPr id="3" name="Rectangle 2"/>
          <p:cNvSpPr/>
          <p:nvPr/>
        </p:nvSpPr>
        <p:spPr>
          <a:xfrm>
            <a:off x="731520" y="1005840"/>
            <a:ext cx="2286000" cy="381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5029200" cy="4754880"/>
          </a:xfrm>
          <a:prstGeom prst="roundRect">
            <a:avLst>
              <a:gd name="adj" fmla="val 5000"/>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554480"/>
            <a:ext cx="4572000" cy="457200"/>
          </a:xfrm>
          <a:prstGeom prst="rect">
            <a:avLst/>
          </a:prstGeom>
          <a:noFill/>
        </p:spPr>
        <p:txBody>
          <a:bodyPr wrap="square">
            <a:spAutoFit/>
          </a:bodyPr>
          <a:lstStyle/>
          <a:p>
            <a:pPr algn="l">
              <a:defRPr sz="2200" b="1">
                <a:solidFill>
                  <a:srgbClr val="4ADE80"/>
                </a:solidFill>
                <a:latin typeface="Segoe UI"/>
              </a:defRPr>
            </a:pPr>
            <a:r>
              <a:t>VITS là gì?</a:t>
            </a:r>
          </a:p>
        </p:txBody>
      </p:sp>
      <p:sp>
        <p:nvSpPr>
          <p:cNvPr id="6" name="TextBox 5"/>
          <p:cNvSpPr txBox="1"/>
          <p:nvPr/>
        </p:nvSpPr>
        <p:spPr>
          <a:xfrm>
            <a:off x="1005840" y="2103120"/>
            <a:ext cx="4572000" cy="3200400"/>
          </a:xfrm>
          <a:prstGeom prst="rect">
            <a:avLst/>
          </a:prstGeom>
          <a:noFill/>
        </p:spPr>
        <p:txBody>
          <a:bodyPr wrap="square">
            <a:spAutoFit/>
          </a:bodyPr>
          <a:lstStyle/>
          <a:p>
            <a:pPr>
              <a:spcAft>
                <a:spcPts val="800"/>
              </a:spcAft>
              <a:defRPr sz="1500">
                <a:solidFill>
                  <a:srgbClr val="B0B8C8"/>
                </a:solidFill>
                <a:latin typeface="Segoe UI"/>
              </a:defRPr>
            </a:pPr>
            <a:r>
              <a:t>▸  Variational Inference with adversarial learning</a:t>
            </a:r>
            <a:br/>
            <a:r>
              <a:t>for end-to-end Text-to-Speech</a:t>
            </a:r>
          </a:p>
          <a:p>
            <a:pPr>
              <a:spcAft>
                <a:spcPts val="800"/>
              </a:spcAft>
              <a:defRPr sz="1500">
                <a:solidFill>
                  <a:srgbClr val="B0B8C8"/>
                </a:solidFill>
                <a:latin typeface="Segoe UI"/>
              </a:defRPr>
            </a:pPr>
            <a:r>
              <a:t>▸  Kết hợp VAE + Normalizing Flow + GAN</a:t>
            </a:r>
          </a:p>
          <a:p>
            <a:pPr>
              <a:spcAft>
                <a:spcPts val="800"/>
              </a:spcAft>
              <a:defRPr sz="1500">
                <a:solidFill>
                  <a:srgbClr val="B0B8C8"/>
                </a:solidFill>
                <a:latin typeface="Segoe UI"/>
              </a:defRPr>
            </a:pPr>
            <a:r>
              <a:t>▸  Tổng hợp giọng nói end-to-end (text → audio)</a:t>
            </a:r>
          </a:p>
          <a:p>
            <a:pPr>
              <a:spcAft>
                <a:spcPts val="800"/>
              </a:spcAft>
              <a:defRPr sz="1500">
                <a:solidFill>
                  <a:srgbClr val="B0B8C8"/>
                </a:solidFill>
                <a:latin typeface="Segoe UI"/>
              </a:defRPr>
            </a:pPr>
            <a:r>
              <a:t>▸  Không cần vocoder riêng biệt (khác FastSpeech2)</a:t>
            </a:r>
          </a:p>
          <a:p>
            <a:pPr>
              <a:spcAft>
                <a:spcPts val="800"/>
              </a:spcAft>
              <a:defRPr sz="1500">
                <a:solidFill>
                  <a:srgbClr val="B0B8C8"/>
                </a:solidFill>
                <a:latin typeface="Segoe UI"/>
              </a:defRPr>
            </a:pPr>
            <a:r>
              <a:t>▸  Chất lượng cao, tốc độ nhanh, tự nhiên</a:t>
            </a:r>
          </a:p>
          <a:p>
            <a:pPr>
              <a:spcAft>
                <a:spcPts val="800"/>
              </a:spcAft>
              <a:defRPr sz="1500">
                <a:solidFill>
                  <a:srgbClr val="B0B8C8"/>
                </a:solidFill>
                <a:latin typeface="Segoe UI"/>
              </a:defRPr>
            </a:pPr>
            <a:r>
              <a:t>▸  Paper: Kim et al., ICML 2021</a:t>
            </a:r>
          </a:p>
        </p:txBody>
      </p:sp>
      <p:sp>
        <p:nvSpPr>
          <p:cNvPr id="7" name="Rounded Rectangle 6"/>
          <p:cNvSpPr/>
          <p:nvPr/>
        </p:nvSpPr>
        <p:spPr>
          <a:xfrm>
            <a:off x="6217920" y="1371600"/>
            <a:ext cx="5029200" cy="4754880"/>
          </a:xfrm>
          <a:prstGeom prst="roundRect">
            <a:avLst>
              <a:gd name="adj" fmla="val 5000"/>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54480"/>
            <a:ext cx="4572000" cy="457200"/>
          </a:xfrm>
          <a:prstGeom prst="rect">
            <a:avLst/>
          </a:prstGeom>
          <a:noFill/>
        </p:spPr>
        <p:txBody>
          <a:bodyPr wrap="square">
            <a:spAutoFit/>
          </a:bodyPr>
          <a:lstStyle/>
          <a:p>
            <a:pPr algn="l">
              <a:defRPr sz="2200" b="1">
                <a:solidFill>
                  <a:srgbClr val="FB923C"/>
                </a:solidFill>
                <a:latin typeface="Segoe UI"/>
              </a:defRPr>
            </a:pPr>
            <a:r>
              <a:t>Tại sao chọn VITS?</a:t>
            </a:r>
          </a:p>
        </p:txBody>
      </p:sp>
      <p:sp>
        <p:nvSpPr>
          <p:cNvPr id="9" name="TextBox 8"/>
          <p:cNvSpPr txBox="1"/>
          <p:nvPr/>
        </p:nvSpPr>
        <p:spPr>
          <a:xfrm>
            <a:off x="6492240" y="2103120"/>
            <a:ext cx="4572000" cy="3200400"/>
          </a:xfrm>
          <a:prstGeom prst="rect">
            <a:avLst/>
          </a:prstGeom>
          <a:noFill/>
        </p:spPr>
        <p:txBody>
          <a:bodyPr wrap="square">
            <a:spAutoFit/>
          </a:bodyPr>
          <a:lstStyle/>
          <a:p>
            <a:pPr>
              <a:spcAft>
                <a:spcPts val="800"/>
              </a:spcAft>
              <a:defRPr sz="1500">
                <a:solidFill>
                  <a:srgbClr val="B0B8C8"/>
                </a:solidFill>
                <a:latin typeface="Segoe UI"/>
              </a:defRPr>
            </a:pPr>
            <a:r>
              <a:t>▸  End-to-end: Đơn giản hóa pipeline TTS</a:t>
            </a:r>
          </a:p>
          <a:p>
            <a:pPr>
              <a:spcAft>
                <a:spcPts val="800"/>
              </a:spcAft>
              <a:defRPr sz="1500">
                <a:solidFill>
                  <a:srgbClr val="B0B8C8"/>
                </a:solidFill>
                <a:latin typeface="Segoe UI"/>
              </a:defRPr>
            </a:pPr>
            <a:r>
              <a:t>▸  Chất lượng giọng nói tự nhiên hơn Tacotron2</a:t>
            </a:r>
          </a:p>
          <a:p>
            <a:pPr>
              <a:spcAft>
                <a:spcPts val="800"/>
              </a:spcAft>
              <a:defRPr sz="1500">
                <a:solidFill>
                  <a:srgbClr val="B0B8C8"/>
                </a:solidFill>
                <a:latin typeface="Segoe UI"/>
              </a:defRPr>
            </a:pPr>
            <a:r>
              <a:t>▸  Hỗ trợ multi-speaker (nhiều giọng nói)</a:t>
            </a:r>
          </a:p>
          <a:p>
            <a:pPr>
              <a:spcAft>
                <a:spcPts val="800"/>
              </a:spcAft>
              <a:defRPr sz="1500">
                <a:solidFill>
                  <a:srgbClr val="B0B8C8"/>
                </a:solidFill>
                <a:latin typeface="Segoe UI"/>
              </a:defRPr>
            </a:pPr>
            <a:r>
              <a:t>▸  Tốc độ inference nhanh (real-time)</a:t>
            </a:r>
          </a:p>
          <a:p>
            <a:pPr>
              <a:spcAft>
                <a:spcPts val="800"/>
              </a:spcAft>
              <a:defRPr sz="1500">
                <a:solidFill>
                  <a:srgbClr val="B0B8C8"/>
                </a:solidFill>
                <a:latin typeface="Segoe UI"/>
              </a:defRPr>
            </a:pPr>
            <a:r>
              <a:t>▸  Dễ export sang ONNX để deploy</a:t>
            </a:r>
          </a:p>
          <a:p>
            <a:pPr>
              <a:spcAft>
                <a:spcPts val="800"/>
              </a:spcAft>
              <a:defRPr sz="1500">
                <a:solidFill>
                  <a:srgbClr val="B0B8C8"/>
                </a:solidFill>
                <a:latin typeface="Segoe UI"/>
              </a:defRPr>
            </a:pPr>
            <a:r>
              <a:t>▸  Cộng đồng lớn, nhiều công cụ hỗ trợ (Piper)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4572000" cy="640080"/>
          </a:xfrm>
          <a:prstGeom prst="rect">
            <a:avLst/>
          </a:prstGeom>
          <a:noFill/>
        </p:spPr>
        <p:txBody>
          <a:bodyPr wrap="square">
            <a:spAutoFit/>
          </a:bodyPr>
          <a:lstStyle/>
          <a:p>
            <a:pPr algn="l">
              <a:defRPr sz="3000" b="1">
                <a:solidFill>
                  <a:srgbClr val="38BDF8"/>
                </a:solidFill>
                <a:latin typeface="Segoe UI"/>
              </a:defRPr>
            </a:pPr>
            <a:r>
              <a:t>02 — Kiến trúc mô hình VITS</a:t>
            </a:r>
          </a:p>
        </p:txBody>
      </p:sp>
      <p:sp>
        <p:nvSpPr>
          <p:cNvPr id="3" name="Rectangle 2"/>
          <p:cNvSpPr/>
          <p:nvPr/>
        </p:nvSpPr>
        <p:spPr>
          <a:xfrm>
            <a:off x="731520" y="1005840"/>
            <a:ext cx="2286000" cy="381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371600"/>
            <a:ext cx="2651760" cy="4754880"/>
          </a:xfrm>
          <a:prstGeom prst="roundRect">
            <a:avLst>
              <a:gd name="adj" fmla="val 5000"/>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371600"/>
            <a:ext cx="265176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45920"/>
            <a:ext cx="2286000" cy="731520"/>
          </a:xfrm>
          <a:prstGeom prst="rect">
            <a:avLst/>
          </a:prstGeom>
          <a:noFill/>
        </p:spPr>
        <p:txBody>
          <a:bodyPr wrap="square">
            <a:spAutoFit/>
          </a:bodyPr>
          <a:lstStyle/>
          <a:p>
            <a:pPr algn="l">
              <a:defRPr sz="1700" b="1">
                <a:solidFill>
                  <a:srgbClr val="38BDF8"/>
                </a:solidFill>
                <a:latin typeface="Segoe UI"/>
              </a:defRPr>
            </a:pPr>
            <a:r>
              <a:t>🔤 Text Encoder</a:t>
            </a:r>
          </a:p>
        </p:txBody>
      </p:sp>
      <p:sp>
        <p:nvSpPr>
          <p:cNvPr id="7" name="TextBox 6"/>
          <p:cNvSpPr txBox="1"/>
          <p:nvPr/>
        </p:nvSpPr>
        <p:spPr>
          <a:xfrm>
            <a:off x="731520" y="2560320"/>
            <a:ext cx="2286000" cy="3200400"/>
          </a:xfrm>
          <a:prstGeom prst="rect">
            <a:avLst/>
          </a:prstGeom>
          <a:noFill/>
        </p:spPr>
        <p:txBody>
          <a:bodyPr wrap="square">
            <a:spAutoFit/>
          </a:bodyPr>
          <a:lstStyle/>
          <a:p>
            <a:pPr algn="l">
              <a:defRPr sz="1300" b="0">
                <a:solidFill>
                  <a:srgbClr val="B0B8C8"/>
                </a:solidFill>
                <a:latin typeface="Segoe UI"/>
              </a:defRPr>
            </a:pPr>
            <a:r>
              <a:t>Transformer Encoder</a:t>
            </a:r>
            <a:br/>
            <a:r>
              <a:t>• 6 layers, 2 heads</a:t>
            </a:r>
            <a:br/>
            <a:r>
              <a:t>• Hidden: 192 channels</a:t>
            </a:r>
            <a:br/>
            <a:r>
              <a:t>• Filter: 768 channels</a:t>
            </a:r>
            <a:br/>
            <a:r>
              <a:t>• Kernel size: 3</a:t>
            </a:r>
            <a:br/>
            <a:r>
              <a:t>• Dropout: 0.1</a:t>
            </a:r>
          </a:p>
        </p:txBody>
      </p:sp>
      <p:sp>
        <p:nvSpPr>
          <p:cNvPr id="8" name="Rounded Rectangle 7"/>
          <p:cNvSpPr/>
          <p:nvPr/>
        </p:nvSpPr>
        <p:spPr>
          <a:xfrm>
            <a:off x="3383280" y="1371600"/>
            <a:ext cx="2651760" cy="4754880"/>
          </a:xfrm>
          <a:prstGeom prst="roundRect">
            <a:avLst>
              <a:gd name="adj" fmla="val 5000"/>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383280" y="1371600"/>
            <a:ext cx="2651760" cy="508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1645920"/>
            <a:ext cx="2286000" cy="731520"/>
          </a:xfrm>
          <a:prstGeom prst="rect">
            <a:avLst/>
          </a:prstGeom>
          <a:noFill/>
        </p:spPr>
        <p:txBody>
          <a:bodyPr wrap="square">
            <a:spAutoFit/>
          </a:bodyPr>
          <a:lstStyle/>
          <a:p>
            <a:pPr algn="l">
              <a:defRPr sz="1700" b="1">
                <a:solidFill>
                  <a:srgbClr val="A78BFA"/>
                </a:solidFill>
                <a:latin typeface="Segoe UI"/>
              </a:defRPr>
            </a:pPr>
            <a:r>
              <a:t>🔗 Stochastic Duration</a:t>
            </a:r>
            <a:br/>
            <a:r>
              <a:t>Predictor</a:t>
            </a:r>
          </a:p>
        </p:txBody>
      </p:sp>
      <p:sp>
        <p:nvSpPr>
          <p:cNvPr id="11" name="TextBox 10"/>
          <p:cNvSpPr txBox="1"/>
          <p:nvPr/>
        </p:nvSpPr>
        <p:spPr>
          <a:xfrm>
            <a:off x="3566160" y="2560320"/>
            <a:ext cx="2286000" cy="3200400"/>
          </a:xfrm>
          <a:prstGeom prst="rect">
            <a:avLst/>
          </a:prstGeom>
          <a:noFill/>
        </p:spPr>
        <p:txBody>
          <a:bodyPr wrap="square">
            <a:spAutoFit/>
          </a:bodyPr>
          <a:lstStyle/>
          <a:p>
            <a:pPr algn="l">
              <a:defRPr sz="1300" b="0">
                <a:solidFill>
                  <a:srgbClr val="B0B8C8"/>
                </a:solidFill>
                <a:latin typeface="Segoe UI"/>
              </a:defRPr>
            </a:pPr>
            <a:r>
              <a:t>Dự đoán thời lượng</a:t>
            </a:r>
            <a:br/>
            <a:r>
              <a:t>• Flow-based</a:t>
            </a:r>
            <a:br/>
            <a:r>
              <a:t>• Noise scale: 0.667</a:t>
            </a:r>
            <a:br/>
            <a:r>
              <a:t>• Noise W: 0.8</a:t>
            </a:r>
            <a:br/>
            <a:r>
              <a:t>• Length scale: 1.0</a:t>
            </a:r>
          </a:p>
        </p:txBody>
      </p:sp>
      <p:sp>
        <p:nvSpPr>
          <p:cNvPr id="12" name="Rounded Rectangle 11"/>
          <p:cNvSpPr/>
          <p:nvPr/>
        </p:nvSpPr>
        <p:spPr>
          <a:xfrm>
            <a:off x="6217920" y="1371600"/>
            <a:ext cx="2651760" cy="4754880"/>
          </a:xfrm>
          <a:prstGeom prst="roundRect">
            <a:avLst>
              <a:gd name="adj" fmla="val 5000"/>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71600"/>
            <a:ext cx="2651760" cy="50800"/>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645920"/>
            <a:ext cx="2286000" cy="731520"/>
          </a:xfrm>
          <a:prstGeom prst="rect">
            <a:avLst/>
          </a:prstGeom>
          <a:noFill/>
        </p:spPr>
        <p:txBody>
          <a:bodyPr wrap="square">
            <a:spAutoFit/>
          </a:bodyPr>
          <a:lstStyle/>
          <a:p>
            <a:pPr algn="l">
              <a:defRPr sz="1700" b="1">
                <a:solidFill>
                  <a:srgbClr val="4ADE80"/>
                </a:solidFill>
                <a:latin typeface="Segoe UI"/>
              </a:defRPr>
            </a:pPr>
            <a:r>
              <a:t>🌊 Posterior Encoder</a:t>
            </a:r>
            <a:br/>
            <a:r>
              <a:t>+ Flow</a:t>
            </a:r>
          </a:p>
        </p:txBody>
      </p:sp>
      <p:sp>
        <p:nvSpPr>
          <p:cNvPr id="15" name="TextBox 14"/>
          <p:cNvSpPr txBox="1"/>
          <p:nvPr/>
        </p:nvSpPr>
        <p:spPr>
          <a:xfrm>
            <a:off x="6400800" y="2560320"/>
            <a:ext cx="2286000" cy="3200400"/>
          </a:xfrm>
          <a:prstGeom prst="rect">
            <a:avLst/>
          </a:prstGeom>
          <a:noFill/>
        </p:spPr>
        <p:txBody>
          <a:bodyPr wrap="square">
            <a:spAutoFit/>
          </a:bodyPr>
          <a:lstStyle/>
          <a:p>
            <a:pPr algn="l">
              <a:defRPr sz="1300" b="0">
                <a:solidFill>
                  <a:srgbClr val="B0B8C8"/>
                </a:solidFill>
                <a:latin typeface="Segoe UI"/>
              </a:defRPr>
            </a:pPr>
            <a:r>
              <a:t>VAE + Normalizing Flow</a:t>
            </a:r>
            <a:br/>
            <a:r>
              <a:t>• Inter channels: 192</a:t>
            </a:r>
            <a:br/>
            <a:r>
              <a:t>• Q Layers: 3</a:t>
            </a:r>
            <a:br/>
            <a:r>
              <a:t>• Variational inference</a:t>
            </a:r>
            <a:br/>
            <a:r>
              <a:t>• Latent representation</a:t>
            </a:r>
          </a:p>
        </p:txBody>
      </p:sp>
      <p:sp>
        <p:nvSpPr>
          <p:cNvPr id="16" name="Rounded Rectangle 15"/>
          <p:cNvSpPr/>
          <p:nvPr/>
        </p:nvSpPr>
        <p:spPr>
          <a:xfrm>
            <a:off x="9052560" y="1371600"/>
            <a:ext cx="2651760" cy="4754880"/>
          </a:xfrm>
          <a:prstGeom prst="roundRect">
            <a:avLst>
              <a:gd name="adj" fmla="val 5000"/>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052560" y="1371600"/>
            <a:ext cx="2651760" cy="508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35440" y="1645920"/>
            <a:ext cx="2286000" cy="731520"/>
          </a:xfrm>
          <a:prstGeom prst="rect">
            <a:avLst/>
          </a:prstGeom>
          <a:noFill/>
        </p:spPr>
        <p:txBody>
          <a:bodyPr wrap="square">
            <a:spAutoFit/>
          </a:bodyPr>
          <a:lstStyle/>
          <a:p>
            <a:pPr algn="l">
              <a:defRPr sz="1700" b="1">
                <a:solidFill>
                  <a:srgbClr val="FB923C"/>
                </a:solidFill>
                <a:latin typeface="Segoe UI"/>
              </a:defRPr>
            </a:pPr>
            <a:r>
              <a:t>🔊 HiFi-GAN Decoder</a:t>
            </a:r>
          </a:p>
        </p:txBody>
      </p:sp>
      <p:sp>
        <p:nvSpPr>
          <p:cNvPr id="19" name="TextBox 18"/>
          <p:cNvSpPr txBox="1"/>
          <p:nvPr/>
        </p:nvSpPr>
        <p:spPr>
          <a:xfrm>
            <a:off x="9235440" y="2560320"/>
            <a:ext cx="2286000" cy="3200400"/>
          </a:xfrm>
          <a:prstGeom prst="rect">
            <a:avLst/>
          </a:prstGeom>
          <a:noFill/>
        </p:spPr>
        <p:txBody>
          <a:bodyPr wrap="square">
            <a:spAutoFit/>
          </a:bodyPr>
          <a:lstStyle/>
          <a:p>
            <a:pPr algn="l">
              <a:defRPr sz="1300" b="0">
                <a:solidFill>
                  <a:srgbClr val="B0B8C8"/>
                </a:solidFill>
                <a:latin typeface="Segoe UI"/>
              </a:defRPr>
            </a:pPr>
            <a:r>
              <a:t>Vocoder tích hợp</a:t>
            </a:r>
            <a:br/>
            <a:r>
              <a:t>• Upsample: [8,8,2,2]</a:t>
            </a:r>
            <a:br/>
            <a:r>
              <a:t>• ResBlock kernels: [3,7,11]</a:t>
            </a:r>
            <a:br/>
            <a:r>
              <a:t>• Dilation: [[1,3,5]×3]</a:t>
            </a:r>
            <a:br/>
            <a:r>
              <a:t>• Init channel: 512</a:t>
            </a:r>
          </a:p>
        </p:txBody>
      </p:sp>
      <p:sp>
        <p:nvSpPr>
          <p:cNvPr id="20" name="TextBox 19"/>
          <p:cNvSpPr txBox="1"/>
          <p:nvPr/>
        </p:nvSpPr>
        <p:spPr>
          <a:xfrm>
            <a:off x="731520" y="6263640"/>
            <a:ext cx="10972800" cy="365760"/>
          </a:xfrm>
          <a:prstGeom prst="rect">
            <a:avLst/>
          </a:prstGeom>
          <a:noFill/>
        </p:spPr>
        <p:txBody>
          <a:bodyPr wrap="square">
            <a:spAutoFit/>
          </a:bodyPr>
          <a:lstStyle/>
          <a:p>
            <a:pPr algn="ctr">
              <a:defRPr sz="1400" b="0">
                <a:solidFill>
                  <a:srgbClr val="64748B"/>
                </a:solidFill>
                <a:latin typeface="Segoe UI"/>
              </a:defRPr>
            </a:pPr>
            <a:r>
              <a:t>📊 Tổng số symbols: 256  |  Phoneme type: espeak  |  Sample rate: 22050 Hz  |  Single speaker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4572000" cy="640080"/>
          </a:xfrm>
          <a:prstGeom prst="rect">
            <a:avLst/>
          </a:prstGeom>
          <a:noFill/>
        </p:spPr>
        <p:txBody>
          <a:bodyPr wrap="square">
            <a:spAutoFit/>
          </a:bodyPr>
          <a:lstStyle/>
          <a:p>
            <a:pPr algn="l">
              <a:defRPr sz="3000" b="1">
                <a:solidFill>
                  <a:srgbClr val="38BDF8"/>
                </a:solidFill>
                <a:latin typeface="Segoe UI"/>
              </a:defRPr>
            </a:pPr>
            <a:r>
              <a:t>03 — Dữ liệu huấn luyện</a:t>
            </a:r>
          </a:p>
        </p:txBody>
      </p:sp>
      <p:sp>
        <p:nvSpPr>
          <p:cNvPr id="3" name="Rectangle 2"/>
          <p:cNvSpPr/>
          <p:nvPr/>
        </p:nvSpPr>
        <p:spPr>
          <a:xfrm>
            <a:off x="731520" y="1005840"/>
            <a:ext cx="2286000" cy="381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5303520" cy="4846320"/>
          </a:xfrm>
          <a:prstGeom prst="roundRect">
            <a:avLst>
              <a:gd name="adj" fmla="val 5000"/>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554480"/>
            <a:ext cx="4572000" cy="457200"/>
          </a:xfrm>
          <a:prstGeom prst="rect">
            <a:avLst/>
          </a:prstGeom>
          <a:noFill/>
        </p:spPr>
        <p:txBody>
          <a:bodyPr wrap="square">
            <a:spAutoFit/>
          </a:bodyPr>
          <a:lstStyle/>
          <a:p>
            <a:pPr algn="l">
              <a:defRPr sz="2200" b="1">
                <a:solidFill>
                  <a:srgbClr val="4ADE80"/>
                </a:solidFill>
                <a:latin typeface="Segoe UI"/>
              </a:defRPr>
            </a:pPr>
            <a:r>
              <a:t>📂  Dataset: VIVOS SPK01</a:t>
            </a:r>
          </a:p>
        </p:txBody>
      </p:sp>
      <p:graphicFrame>
        <p:nvGraphicFramePr>
          <p:cNvPr id="6" name="Table 5"/>
          <p:cNvGraphicFramePr>
            <a:graphicFrameLocks noGrp="1"/>
          </p:cNvGraphicFramePr>
          <p:nvPr/>
        </p:nvGraphicFramePr>
        <p:xfrm>
          <a:off x="914400" y="2194560"/>
          <a:ext cx="4754880" cy="3657600"/>
        </p:xfrm>
        <a:graphic>
          <a:graphicData uri="http://schemas.openxmlformats.org/drawingml/2006/table">
            <a:tbl>
              <a:tblPr firstRow="1" bandRow="1">
                <a:tableStyleId>{5C22544A-7EE6-4342-B048-85BDC9FD1C3A}</a:tableStyleId>
              </a:tblPr>
              <a:tblGrid>
                <a:gridCol w="2377440"/>
                <a:gridCol w="2377440"/>
              </a:tblGrid>
              <a:tr h="365760">
                <a:tc>
                  <a:txBody>
                    <a:bodyPr/>
                    <a:lstStyle/>
                    <a:p>
                      <a:pPr algn="ctr">
                        <a:defRPr sz="1300" b="1">
                          <a:solidFill>
                            <a:srgbClr val="FFFFFF"/>
                          </a:solidFill>
                          <a:latin typeface="Segoe UI"/>
                        </a:defRPr>
                      </a:pPr>
                      <a:r>
                        <a:t>Thông số</a:t>
                      </a:r>
                    </a:p>
                  </a:txBody>
                  <a:tcPr>
                    <a:solidFill>
                      <a:srgbClr val="1E3A5F"/>
                    </a:solidFill>
                  </a:tcPr>
                </a:tc>
                <a:tc>
                  <a:txBody>
                    <a:bodyPr/>
                    <a:lstStyle/>
                    <a:p>
                      <a:pPr algn="ctr">
                        <a:defRPr sz="1300" b="1">
                          <a:solidFill>
                            <a:srgbClr val="FFFFFF"/>
                          </a:solidFill>
                          <a:latin typeface="Segoe UI"/>
                        </a:defRPr>
                      </a:pPr>
                      <a:r>
                        <a:t>Giá trị</a:t>
                      </a:r>
                    </a:p>
                  </a:txBody>
                  <a:tcPr>
                    <a:solidFill>
                      <a:srgbClr val="1E3A5F"/>
                    </a:solidFill>
                  </a:tcPr>
                </a:tc>
              </a:tr>
              <a:tr h="365760">
                <a:tc>
                  <a:txBody>
                    <a:bodyPr/>
                    <a:lstStyle/>
                    <a:p>
                      <a:pPr algn="ctr">
                        <a:defRPr sz="1200">
                          <a:solidFill>
                            <a:srgbClr val="B0B8C8"/>
                          </a:solidFill>
                          <a:latin typeface="Segoe UI"/>
                        </a:defRPr>
                      </a:pPr>
                      <a:r>
                        <a:t>Nguồn dữ liệu</a:t>
                      </a:r>
                    </a:p>
                  </a:txBody>
                  <a:tcPr>
                    <a:solidFill>
                      <a:srgbClr val="1A253C"/>
                    </a:solidFill>
                  </a:tcPr>
                </a:tc>
                <a:tc>
                  <a:txBody>
                    <a:bodyPr/>
                    <a:lstStyle/>
                    <a:p>
                      <a:pPr algn="ctr">
                        <a:defRPr sz="1200">
                          <a:solidFill>
                            <a:srgbClr val="B0B8C8"/>
                          </a:solidFill>
                          <a:latin typeface="Segoe UI"/>
                        </a:defRPr>
                      </a:pPr>
                      <a:r>
                        <a:t>VIVOS (AILab HCMUS)</a:t>
                      </a:r>
                    </a:p>
                  </a:txBody>
                  <a:tcPr>
                    <a:solidFill>
                      <a:srgbClr val="1A253C"/>
                    </a:solidFill>
                  </a:tcPr>
                </a:tc>
              </a:tr>
              <a:tr h="365760">
                <a:tc>
                  <a:txBody>
                    <a:bodyPr/>
                    <a:lstStyle/>
                    <a:p>
                      <a:pPr algn="ctr">
                        <a:defRPr sz="1200">
                          <a:solidFill>
                            <a:srgbClr val="B0B8C8"/>
                          </a:solidFill>
                          <a:latin typeface="Segoe UI"/>
                        </a:defRPr>
                      </a:pPr>
                      <a:r>
                        <a:t>Speaker</a:t>
                      </a:r>
                    </a:p>
                  </a:txBody>
                  <a:tcPr>
                    <a:solidFill>
                      <a:srgbClr val="152035"/>
                    </a:solidFill>
                  </a:tcPr>
                </a:tc>
                <a:tc>
                  <a:txBody>
                    <a:bodyPr/>
                    <a:lstStyle/>
                    <a:p>
                      <a:pPr algn="ctr">
                        <a:defRPr sz="1200">
                          <a:solidFill>
                            <a:srgbClr val="B0B8C8"/>
                          </a:solidFill>
                          <a:latin typeface="Segoe UI"/>
                        </a:defRPr>
                      </a:pPr>
                      <a:r>
                        <a:t>VIVOSSPK01 (single)</a:t>
                      </a:r>
                    </a:p>
                  </a:txBody>
                  <a:tcPr>
                    <a:solidFill>
                      <a:srgbClr val="152035"/>
                    </a:solidFill>
                  </a:tcPr>
                </a:tc>
              </a:tr>
              <a:tr h="365760">
                <a:tc>
                  <a:txBody>
                    <a:bodyPr/>
                    <a:lstStyle/>
                    <a:p>
                      <a:pPr algn="ctr">
                        <a:defRPr sz="1200">
                          <a:solidFill>
                            <a:srgbClr val="B0B8C8"/>
                          </a:solidFill>
                          <a:latin typeface="Segoe UI"/>
                        </a:defRPr>
                      </a:pPr>
                      <a:r>
                        <a:t>Số lượng câu</a:t>
                      </a:r>
                    </a:p>
                  </a:txBody>
                  <a:tcPr>
                    <a:solidFill>
                      <a:srgbClr val="1A253C"/>
                    </a:solidFill>
                  </a:tcPr>
                </a:tc>
                <a:tc>
                  <a:txBody>
                    <a:bodyPr/>
                    <a:lstStyle/>
                    <a:p>
                      <a:pPr algn="ctr">
                        <a:defRPr sz="1200">
                          <a:solidFill>
                            <a:srgbClr val="B0B8C8"/>
                          </a:solidFill>
                          <a:latin typeface="Segoe UI"/>
                        </a:defRPr>
                      </a:pPr>
                      <a:r>
                        <a:t>250 câu</a:t>
                      </a:r>
                    </a:p>
                  </a:txBody>
                  <a:tcPr>
                    <a:solidFill>
                      <a:srgbClr val="1A253C"/>
                    </a:solidFill>
                  </a:tcPr>
                </a:tc>
              </a:tr>
              <a:tr h="365760">
                <a:tc>
                  <a:txBody>
                    <a:bodyPr/>
                    <a:lstStyle/>
                    <a:p>
                      <a:pPr algn="ctr">
                        <a:defRPr sz="1200">
                          <a:solidFill>
                            <a:srgbClr val="B0B8C8"/>
                          </a:solidFill>
                          <a:latin typeface="Segoe UI"/>
                        </a:defRPr>
                      </a:pPr>
                      <a:r>
                        <a:t>Tổng thời lượng</a:t>
                      </a:r>
                    </a:p>
                  </a:txBody>
                  <a:tcPr>
                    <a:solidFill>
                      <a:srgbClr val="152035"/>
                    </a:solidFill>
                  </a:tcPr>
                </a:tc>
                <a:tc>
                  <a:txBody>
                    <a:bodyPr/>
                    <a:lstStyle/>
                    <a:p>
                      <a:pPr algn="ctr">
                        <a:defRPr sz="1200">
                          <a:solidFill>
                            <a:srgbClr val="B0B8C8"/>
                          </a:solidFill>
                          <a:latin typeface="Segoe UI"/>
                        </a:defRPr>
                      </a:pPr>
                      <a:r>
                        <a:t>~10 phút</a:t>
                      </a:r>
                    </a:p>
                  </a:txBody>
                  <a:tcPr>
                    <a:solidFill>
                      <a:srgbClr val="152035"/>
                    </a:solidFill>
                  </a:tcPr>
                </a:tc>
              </a:tr>
              <a:tr h="365760">
                <a:tc>
                  <a:txBody>
                    <a:bodyPr/>
                    <a:lstStyle/>
                    <a:p>
                      <a:pPr algn="ctr">
                        <a:defRPr sz="1200">
                          <a:solidFill>
                            <a:srgbClr val="B0B8C8"/>
                          </a:solidFill>
                          <a:latin typeface="Segoe UI"/>
                        </a:defRPr>
                      </a:pPr>
                      <a:r>
                        <a:t>Sample rate</a:t>
                      </a:r>
                    </a:p>
                  </a:txBody>
                  <a:tcPr>
                    <a:solidFill>
                      <a:srgbClr val="1A253C"/>
                    </a:solidFill>
                  </a:tcPr>
                </a:tc>
                <a:tc>
                  <a:txBody>
                    <a:bodyPr/>
                    <a:lstStyle/>
                    <a:p>
                      <a:pPr algn="ctr">
                        <a:defRPr sz="1200">
                          <a:solidFill>
                            <a:srgbClr val="B0B8C8"/>
                          </a:solidFill>
                          <a:latin typeface="Segoe UI"/>
                        </a:defRPr>
                      </a:pPr>
                      <a:r>
                        <a:t>22050 Hz</a:t>
                      </a:r>
                    </a:p>
                  </a:txBody>
                  <a:tcPr>
                    <a:solidFill>
                      <a:srgbClr val="1A253C"/>
                    </a:solidFill>
                  </a:tcPr>
                </a:tc>
              </a:tr>
              <a:tr h="365760">
                <a:tc>
                  <a:txBody>
                    <a:bodyPr/>
                    <a:lstStyle/>
                    <a:p>
                      <a:pPr algn="ctr">
                        <a:defRPr sz="1200">
                          <a:solidFill>
                            <a:srgbClr val="B0B8C8"/>
                          </a:solidFill>
                          <a:latin typeface="Segoe UI"/>
                        </a:defRPr>
                      </a:pPr>
                      <a:r>
                        <a:t>Định dạng</a:t>
                      </a:r>
                    </a:p>
                  </a:txBody>
                  <a:tcPr>
                    <a:solidFill>
                      <a:srgbClr val="152035"/>
                    </a:solidFill>
                  </a:tcPr>
                </a:tc>
                <a:tc>
                  <a:txBody>
                    <a:bodyPr/>
                    <a:lstStyle/>
                    <a:p>
                      <a:pPr algn="ctr">
                        <a:defRPr sz="1200">
                          <a:solidFill>
                            <a:srgbClr val="B0B8C8"/>
                          </a:solidFill>
                          <a:latin typeface="Segoe UI"/>
                        </a:defRPr>
                      </a:pPr>
                      <a:r>
                        <a:t>WAV 16-bit mono</a:t>
                      </a:r>
                    </a:p>
                  </a:txBody>
                  <a:tcPr>
                    <a:solidFill>
                      <a:srgbClr val="152035"/>
                    </a:solidFill>
                  </a:tcPr>
                </a:tc>
              </a:tr>
              <a:tr h="365760">
                <a:tc>
                  <a:txBody>
                    <a:bodyPr/>
                    <a:lstStyle/>
                    <a:p>
                      <a:pPr algn="ctr">
                        <a:defRPr sz="1200">
                          <a:solidFill>
                            <a:srgbClr val="B0B8C8"/>
                          </a:solidFill>
                          <a:latin typeface="Segoe UI"/>
                        </a:defRPr>
                      </a:pPr>
                      <a:r>
                        <a:t>Text cleaners</a:t>
                      </a:r>
                    </a:p>
                  </a:txBody>
                  <a:tcPr>
                    <a:solidFill>
                      <a:srgbClr val="1A253C"/>
                    </a:solidFill>
                  </a:tcPr>
                </a:tc>
                <a:tc>
                  <a:txBody>
                    <a:bodyPr/>
                    <a:lstStyle/>
                    <a:p>
                      <a:pPr algn="ctr">
                        <a:defRPr sz="1200">
                          <a:solidFill>
                            <a:srgbClr val="B0B8C8"/>
                          </a:solidFill>
                          <a:latin typeface="Segoe UI"/>
                        </a:defRPr>
                      </a:pPr>
                      <a:r>
                        <a:t>vietnamese_cleaners</a:t>
                      </a:r>
                    </a:p>
                  </a:txBody>
                  <a:tcPr>
                    <a:solidFill>
                      <a:srgbClr val="1A253C"/>
                    </a:solidFill>
                  </a:tcPr>
                </a:tc>
              </a:tr>
              <a:tr h="365760">
                <a:tc>
                  <a:txBody>
                    <a:bodyPr/>
                    <a:lstStyle/>
                    <a:p>
                      <a:pPr algn="ctr">
                        <a:defRPr sz="1200">
                          <a:solidFill>
                            <a:srgbClr val="B0B8C8"/>
                          </a:solidFill>
                          <a:latin typeface="Segoe UI"/>
                        </a:defRPr>
                      </a:pPr>
                      <a:r>
                        <a:t>Add blank</a:t>
                      </a:r>
                    </a:p>
                  </a:txBody>
                  <a:tcPr>
                    <a:solidFill>
                      <a:srgbClr val="152035"/>
                    </a:solidFill>
                  </a:tcPr>
                </a:tc>
                <a:tc>
                  <a:txBody>
                    <a:bodyPr/>
                    <a:lstStyle/>
                    <a:p>
                      <a:pPr algn="ctr">
                        <a:defRPr sz="1200">
                          <a:solidFill>
                            <a:srgbClr val="B0B8C8"/>
                          </a:solidFill>
                          <a:latin typeface="Segoe UI"/>
                        </a:defRPr>
                      </a:pPr>
                      <a:r>
                        <a:t>True</a:t>
                      </a:r>
                    </a:p>
                  </a:txBody>
                  <a:tcPr>
                    <a:solidFill>
                      <a:srgbClr val="152035"/>
                    </a:solidFill>
                  </a:tcPr>
                </a:tc>
              </a:tr>
              <a:tr h="365760">
                <a:tc>
                  <a:txBody>
                    <a:bodyPr/>
                    <a:lstStyle/>
                    <a:p>
                      <a:pPr algn="ctr">
                        <a:defRPr sz="1200">
                          <a:solidFill>
                            <a:srgbClr val="B0B8C8"/>
                          </a:solidFill>
                          <a:latin typeface="Segoe UI"/>
                        </a:defRPr>
                      </a:pPr>
                      <a:r>
                        <a:t>Train / Val split</a:t>
                      </a:r>
                    </a:p>
                  </a:txBody>
                  <a:tcPr>
                    <a:solidFill>
                      <a:srgbClr val="1A253C"/>
                    </a:solidFill>
                  </a:tcPr>
                </a:tc>
                <a:tc>
                  <a:txBody>
                    <a:bodyPr/>
                    <a:lstStyle/>
                    <a:p>
                      <a:pPr algn="ctr">
                        <a:defRPr sz="1200">
                          <a:solidFill>
                            <a:srgbClr val="B0B8C8"/>
                          </a:solidFill>
                          <a:latin typeface="Segoe UI"/>
                        </a:defRPr>
                      </a:pPr>
                      <a:r>
                        <a:t>240 / 10 câu</a:t>
                      </a:r>
                    </a:p>
                  </a:txBody>
                  <a:tcPr>
                    <a:solidFill>
                      <a:srgbClr val="1A253C"/>
                    </a:solidFill>
                  </a:tcPr>
                </a:tc>
              </a:tr>
            </a:tbl>
          </a:graphicData>
        </a:graphic>
      </p:graphicFrame>
      <p:sp>
        <p:nvSpPr>
          <p:cNvPr id="7" name="Rounded Rectangle 6"/>
          <p:cNvSpPr/>
          <p:nvPr/>
        </p:nvSpPr>
        <p:spPr>
          <a:xfrm>
            <a:off x="6400800" y="1371600"/>
            <a:ext cx="5029200" cy="4846320"/>
          </a:xfrm>
          <a:prstGeom prst="roundRect">
            <a:avLst>
              <a:gd name="adj" fmla="val 5000"/>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1554480"/>
            <a:ext cx="4572000" cy="457200"/>
          </a:xfrm>
          <a:prstGeom prst="rect">
            <a:avLst/>
          </a:prstGeom>
          <a:noFill/>
        </p:spPr>
        <p:txBody>
          <a:bodyPr wrap="square">
            <a:spAutoFit/>
          </a:bodyPr>
          <a:lstStyle/>
          <a:p>
            <a:pPr algn="l">
              <a:defRPr sz="2200" b="1">
                <a:solidFill>
                  <a:srgbClr val="A78BFA"/>
                </a:solidFill>
                <a:latin typeface="Segoe UI"/>
              </a:defRPr>
            </a:pPr>
            <a:r>
              <a:t>⚙️  Pipeline xử lý dữ liệu</a:t>
            </a:r>
          </a:p>
        </p:txBody>
      </p:sp>
      <p:sp>
        <p:nvSpPr>
          <p:cNvPr id="9" name="TextBox 8"/>
          <p:cNvSpPr txBox="1"/>
          <p:nvPr/>
        </p:nvSpPr>
        <p:spPr>
          <a:xfrm>
            <a:off x="6675120" y="2194560"/>
            <a:ext cx="4572000" cy="3657600"/>
          </a:xfrm>
          <a:prstGeom prst="rect">
            <a:avLst/>
          </a:prstGeom>
          <a:noFill/>
        </p:spPr>
        <p:txBody>
          <a:bodyPr wrap="square">
            <a:spAutoFit/>
          </a:bodyPr>
          <a:lstStyle/>
          <a:p>
            <a:pPr>
              <a:spcAft>
                <a:spcPts val="800"/>
              </a:spcAft>
              <a:defRPr sz="1400">
                <a:solidFill>
                  <a:srgbClr val="B0B8C8"/>
                </a:solidFill>
                <a:latin typeface="Segoe UI"/>
              </a:defRPr>
            </a:pPr>
            <a:r>
              <a:t>▸  1. Thu thập audio WAV từ VIVOS corpus</a:t>
            </a:r>
          </a:p>
          <a:p>
            <a:pPr>
              <a:spcAft>
                <a:spcPts val="800"/>
              </a:spcAft>
              <a:defRPr sz="1400">
                <a:solidFill>
                  <a:srgbClr val="B0B8C8"/>
                </a:solidFill>
                <a:latin typeface="Segoe UI"/>
              </a:defRPr>
            </a:pPr>
            <a:r>
              <a:t>▸  2. Chuẩn hóa text (vietnamese_cleaners)</a:t>
            </a:r>
          </a:p>
          <a:p>
            <a:pPr>
              <a:spcAft>
                <a:spcPts val="800"/>
              </a:spcAft>
              <a:defRPr sz="1400">
                <a:solidFill>
                  <a:srgbClr val="B0B8C8"/>
                </a:solidFill>
                <a:latin typeface="Segoe UI"/>
              </a:defRPr>
            </a:pPr>
            <a:r>
              <a:t>▸  3. Phonemize bằng espeak-ng (voice: vi)</a:t>
            </a:r>
          </a:p>
          <a:p>
            <a:pPr>
              <a:spcAft>
                <a:spcPts val="800"/>
              </a:spcAft>
              <a:defRPr sz="1400">
                <a:solidFill>
                  <a:srgbClr val="B0B8C8"/>
                </a:solidFill>
                <a:latin typeface="Segoe UI"/>
              </a:defRPr>
            </a:pPr>
            <a:r>
              <a:t>▸  4. Tạo phoneme_id_map (156 ký hiệu IPA)</a:t>
            </a:r>
          </a:p>
          <a:p>
            <a:pPr>
              <a:spcAft>
                <a:spcPts val="800"/>
              </a:spcAft>
              <a:defRPr sz="1400">
                <a:solidFill>
                  <a:srgbClr val="B0B8C8"/>
                </a:solidFill>
                <a:latin typeface="Segoe UI"/>
              </a:defRPr>
            </a:pPr>
            <a:r>
              <a:t>▸  5. Trích xuất mel-spectrogram:</a:t>
            </a:r>
          </a:p>
          <a:p>
            <a:pPr>
              <a:spcAft>
                <a:spcPts val="800"/>
              </a:spcAft>
              <a:defRPr sz="1400">
                <a:solidFill>
                  <a:srgbClr val="B0B8C8"/>
                </a:solidFill>
                <a:latin typeface="Segoe UI"/>
              </a:defRPr>
            </a:pPr>
            <a:r>
              <a:t>▸       • n_mel_channels = 80</a:t>
            </a:r>
          </a:p>
          <a:p>
            <a:pPr>
              <a:spcAft>
                <a:spcPts val="800"/>
              </a:spcAft>
              <a:defRPr sz="1400">
                <a:solidFill>
                  <a:srgbClr val="B0B8C8"/>
                </a:solidFill>
                <a:latin typeface="Segoe UI"/>
              </a:defRPr>
            </a:pPr>
            <a:r>
              <a:t>▸       • hop_length = 256</a:t>
            </a:r>
          </a:p>
          <a:p>
            <a:pPr>
              <a:spcAft>
                <a:spcPts val="800"/>
              </a:spcAft>
              <a:defRPr sz="1400">
                <a:solidFill>
                  <a:srgbClr val="B0B8C8"/>
                </a:solidFill>
                <a:latin typeface="Segoe UI"/>
              </a:defRPr>
            </a:pPr>
            <a:r>
              <a:t>▸       • win_length = 1024</a:t>
            </a:r>
          </a:p>
          <a:p>
            <a:pPr>
              <a:spcAft>
                <a:spcPts val="800"/>
              </a:spcAft>
              <a:defRPr sz="1400">
                <a:solidFill>
                  <a:srgbClr val="B0B8C8"/>
                </a:solidFill>
                <a:latin typeface="Segoe UI"/>
              </a:defRPr>
            </a:pPr>
            <a:r>
              <a:t>▸  6. Chia train/val (metadata.csv)</a:t>
            </a:r>
          </a:p>
          <a:p>
            <a:pPr>
              <a:spcAft>
                <a:spcPts val="800"/>
              </a:spcAft>
              <a:defRPr sz="1400">
                <a:solidFill>
                  <a:srgbClr val="B0B8C8"/>
                </a:solidFill>
                <a:latin typeface="Segoe UI"/>
              </a:defRPr>
            </a:pPr>
            <a:r>
              <a:t>▸  7. Export sang định dạng Piper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4572000" cy="640080"/>
          </a:xfrm>
          <a:prstGeom prst="rect">
            <a:avLst/>
          </a:prstGeom>
          <a:noFill/>
        </p:spPr>
        <p:txBody>
          <a:bodyPr wrap="square">
            <a:spAutoFit/>
          </a:bodyPr>
          <a:lstStyle/>
          <a:p>
            <a:pPr algn="l">
              <a:defRPr sz="3000" b="1">
                <a:solidFill>
                  <a:srgbClr val="38BDF8"/>
                </a:solidFill>
                <a:latin typeface="Segoe UI"/>
              </a:defRPr>
            </a:pPr>
            <a:r>
              <a:t>04 — Quá trình huấn luyện</a:t>
            </a:r>
          </a:p>
        </p:txBody>
      </p:sp>
      <p:sp>
        <p:nvSpPr>
          <p:cNvPr id="3" name="Rectangle 2"/>
          <p:cNvSpPr/>
          <p:nvPr/>
        </p:nvSpPr>
        <p:spPr>
          <a:xfrm>
            <a:off x="731520" y="1005840"/>
            <a:ext cx="2286000" cy="381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5303520" cy="4846320"/>
          </a:xfrm>
          <a:prstGeom prst="roundRect">
            <a:avLst>
              <a:gd name="adj" fmla="val 5000"/>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554480"/>
            <a:ext cx="4572000" cy="457200"/>
          </a:xfrm>
          <a:prstGeom prst="rect">
            <a:avLst/>
          </a:prstGeom>
          <a:noFill/>
        </p:spPr>
        <p:txBody>
          <a:bodyPr wrap="square">
            <a:spAutoFit/>
          </a:bodyPr>
          <a:lstStyle/>
          <a:p>
            <a:pPr algn="l">
              <a:defRPr sz="2200" b="1">
                <a:solidFill>
                  <a:srgbClr val="4ADE80"/>
                </a:solidFill>
                <a:latin typeface="Segoe UI"/>
              </a:defRPr>
            </a:pPr>
            <a:r>
              <a:t>🏋️  Cấu hình Training</a:t>
            </a:r>
          </a:p>
        </p:txBody>
      </p:sp>
      <p:graphicFrame>
        <p:nvGraphicFramePr>
          <p:cNvPr id="6" name="Table 5"/>
          <p:cNvGraphicFramePr>
            <a:graphicFrameLocks noGrp="1"/>
          </p:cNvGraphicFramePr>
          <p:nvPr/>
        </p:nvGraphicFramePr>
        <p:xfrm>
          <a:off x="914400" y="2194560"/>
          <a:ext cx="4754880" cy="3657600"/>
        </p:xfrm>
        <a:graphic>
          <a:graphicData uri="http://schemas.openxmlformats.org/drawingml/2006/table">
            <a:tbl>
              <a:tblPr firstRow="1" bandRow="1">
                <a:tableStyleId>{5C22544A-7EE6-4342-B048-85BDC9FD1C3A}</a:tableStyleId>
              </a:tblPr>
              <a:tblGrid>
                <a:gridCol w="2377440"/>
                <a:gridCol w="2377440"/>
              </a:tblGrid>
              <a:tr h="365760">
                <a:tc>
                  <a:txBody>
                    <a:bodyPr/>
                    <a:lstStyle/>
                    <a:p>
                      <a:pPr algn="ctr">
                        <a:defRPr sz="1300" b="1">
                          <a:solidFill>
                            <a:srgbClr val="FFFFFF"/>
                          </a:solidFill>
                          <a:latin typeface="Segoe UI"/>
                        </a:defRPr>
                      </a:pPr>
                      <a:r>
                        <a:t>Hyperparameter</a:t>
                      </a:r>
                    </a:p>
                  </a:txBody>
                  <a:tcPr>
                    <a:solidFill>
                      <a:srgbClr val="1E3A5F"/>
                    </a:solidFill>
                  </a:tcPr>
                </a:tc>
                <a:tc>
                  <a:txBody>
                    <a:bodyPr/>
                    <a:lstStyle/>
                    <a:p>
                      <a:pPr algn="ctr">
                        <a:defRPr sz="1300" b="1">
                          <a:solidFill>
                            <a:srgbClr val="FFFFFF"/>
                          </a:solidFill>
                          <a:latin typeface="Segoe UI"/>
                        </a:defRPr>
                      </a:pPr>
                      <a:r>
                        <a:t>Giá trị</a:t>
                      </a:r>
                    </a:p>
                  </a:txBody>
                  <a:tcPr>
                    <a:solidFill>
                      <a:srgbClr val="1E3A5F"/>
                    </a:solidFill>
                  </a:tcPr>
                </a:tc>
              </a:tr>
              <a:tr h="365760">
                <a:tc>
                  <a:txBody>
                    <a:bodyPr/>
                    <a:lstStyle/>
                    <a:p>
                      <a:pPr algn="ctr">
                        <a:defRPr sz="1200">
                          <a:solidFill>
                            <a:srgbClr val="B0B8C8"/>
                          </a:solidFill>
                          <a:latin typeface="Segoe UI"/>
                        </a:defRPr>
                      </a:pPr>
                      <a:r>
                        <a:t>Epochs</a:t>
                      </a:r>
                    </a:p>
                  </a:txBody>
                  <a:tcPr>
                    <a:solidFill>
                      <a:srgbClr val="1A253C"/>
                    </a:solidFill>
                  </a:tcPr>
                </a:tc>
                <a:tc>
                  <a:txBody>
                    <a:bodyPr/>
                    <a:lstStyle/>
                    <a:p>
                      <a:pPr algn="ctr">
                        <a:defRPr sz="1200">
                          <a:solidFill>
                            <a:srgbClr val="B0B8C8"/>
                          </a:solidFill>
                          <a:latin typeface="Segoe UI"/>
                        </a:defRPr>
                      </a:pPr>
                      <a:r>
                        <a:t>10,000 (đã train: 4,988)</a:t>
                      </a:r>
                    </a:p>
                  </a:txBody>
                  <a:tcPr>
                    <a:solidFill>
                      <a:srgbClr val="1A253C"/>
                    </a:solidFill>
                  </a:tcPr>
                </a:tc>
              </a:tr>
              <a:tr h="365760">
                <a:tc>
                  <a:txBody>
                    <a:bodyPr/>
                    <a:lstStyle/>
                    <a:p>
                      <a:pPr algn="ctr">
                        <a:defRPr sz="1200">
                          <a:solidFill>
                            <a:srgbClr val="B0B8C8"/>
                          </a:solidFill>
                          <a:latin typeface="Segoe UI"/>
                        </a:defRPr>
                      </a:pPr>
                      <a:r>
                        <a:t>Batch size</a:t>
                      </a:r>
                    </a:p>
                  </a:txBody>
                  <a:tcPr>
                    <a:solidFill>
                      <a:srgbClr val="152035"/>
                    </a:solidFill>
                  </a:tcPr>
                </a:tc>
                <a:tc>
                  <a:txBody>
                    <a:bodyPr/>
                    <a:lstStyle/>
                    <a:p>
                      <a:pPr algn="ctr">
                        <a:defRPr sz="1200">
                          <a:solidFill>
                            <a:srgbClr val="B0B8C8"/>
                          </a:solidFill>
                          <a:latin typeface="Segoe UI"/>
                        </a:defRPr>
                      </a:pPr>
                      <a:r>
                        <a:t>16</a:t>
                      </a:r>
                    </a:p>
                  </a:txBody>
                  <a:tcPr>
                    <a:solidFill>
                      <a:srgbClr val="152035"/>
                    </a:solidFill>
                  </a:tcPr>
                </a:tc>
              </a:tr>
              <a:tr h="365760">
                <a:tc>
                  <a:txBody>
                    <a:bodyPr/>
                    <a:lstStyle/>
                    <a:p>
                      <a:pPr algn="ctr">
                        <a:defRPr sz="1200">
                          <a:solidFill>
                            <a:srgbClr val="B0B8C8"/>
                          </a:solidFill>
                          <a:latin typeface="Segoe UI"/>
                        </a:defRPr>
                      </a:pPr>
                      <a:r>
                        <a:t>Learning rate</a:t>
                      </a:r>
                    </a:p>
                  </a:txBody>
                  <a:tcPr>
                    <a:solidFill>
                      <a:srgbClr val="1A253C"/>
                    </a:solidFill>
                  </a:tcPr>
                </a:tc>
                <a:tc>
                  <a:txBody>
                    <a:bodyPr/>
                    <a:lstStyle/>
                    <a:p>
                      <a:pPr algn="ctr">
                        <a:defRPr sz="1200">
                          <a:solidFill>
                            <a:srgbClr val="B0B8C8"/>
                          </a:solidFill>
                          <a:latin typeface="Segoe UI"/>
                        </a:defRPr>
                      </a:pPr>
                      <a:r>
                        <a:t>2e-4</a:t>
                      </a:r>
                    </a:p>
                  </a:txBody>
                  <a:tcPr>
                    <a:solidFill>
                      <a:srgbClr val="1A253C"/>
                    </a:solidFill>
                  </a:tcPr>
                </a:tc>
              </a:tr>
              <a:tr h="365760">
                <a:tc>
                  <a:txBody>
                    <a:bodyPr/>
                    <a:lstStyle/>
                    <a:p>
                      <a:pPr algn="ctr">
                        <a:defRPr sz="1200">
                          <a:solidFill>
                            <a:srgbClr val="B0B8C8"/>
                          </a:solidFill>
                          <a:latin typeface="Segoe UI"/>
                        </a:defRPr>
                      </a:pPr>
                      <a:r>
                        <a:t>LR decay</a:t>
                      </a:r>
                    </a:p>
                  </a:txBody>
                  <a:tcPr>
                    <a:solidFill>
                      <a:srgbClr val="152035"/>
                    </a:solidFill>
                  </a:tcPr>
                </a:tc>
                <a:tc>
                  <a:txBody>
                    <a:bodyPr/>
                    <a:lstStyle/>
                    <a:p>
                      <a:pPr algn="ctr">
                        <a:defRPr sz="1200">
                          <a:solidFill>
                            <a:srgbClr val="B0B8C8"/>
                          </a:solidFill>
                          <a:latin typeface="Segoe UI"/>
                        </a:defRPr>
                      </a:pPr>
                      <a:r>
                        <a:t>0.99988</a:t>
                      </a:r>
                    </a:p>
                  </a:txBody>
                  <a:tcPr>
                    <a:solidFill>
                      <a:srgbClr val="152035"/>
                    </a:solidFill>
                  </a:tcPr>
                </a:tc>
              </a:tr>
              <a:tr h="365760">
                <a:tc>
                  <a:txBody>
                    <a:bodyPr/>
                    <a:lstStyle/>
                    <a:p>
                      <a:pPr algn="ctr">
                        <a:defRPr sz="1200">
                          <a:solidFill>
                            <a:srgbClr val="B0B8C8"/>
                          </a:solidFill>
                          <a:latin typeface="Segoe UI"/>
                        </a:defRPr>
                      </a:pPr>
                      <a:r>
                        <a:t>Betas</a:t>
                      </a:r>
                    </a:p>
                  </a:txBody>
                  <a:tcPr>
                    <a:solidFill>
                      <a:srgbClr val="1A253C"/>
                    </a:solidFill>
                  </a:tcPr>
                </a:tc>
                <a:tc>
                  <a:txBody>
                    <a:bodyPr/>
                    <a:lstStyle/>
                    <a:p>
                      <a:pPr algn="ctr">
                        <a:defRPr sz="1200">
                          <a:solidFill>
                            <a:srgbClr val="B0B8C8"/>
                          </a:solidFill>
                          <a:latin typeface="Segoe UI"/>
                        </a:defRPr>
                      </a:pPr>
                      <a:r>
                        <a:t>[0.8, 0.99]</a:t>
                      </a:r>
                    </a:p>
                  </a:txBody>
                  <a:tcPr>
                    <a:solidFill>
                      <a:srgbClr val="1A253C"/>
                    </a:solidFill>
                  </a:tcPr>
                </a:tc>
              </a:tr>
              <a:tr h="365760">
                <a:tc>
                  <a:txBody>
                    <a:bodyPr/>
                    <a:lstStyle/>
                    <a:p>
                      <a:pPr algn="ctr">
                        <a:defRPr sz="1200">
                          <a:solidFill>
                            <a:srgbClr val="B0B8C8"/>
                          </a:solidFill>
                          <a:latin typeface="Segoe UI"/>
                        </a:defRPr>
                      </a:pPr>
                      <a:r>
                        <a:t>Epsilon</a:t>
                      </a:r>
                    </a:p>
                  </a:txBody>
                  <a:tcPr>
                    <a:solidFill>
                      <a:srgbClr val="152035"/>
                    </a:solidFill>
                  </a:tcPr>
                </a:tc>
                <a:tc>
                  <a:txBody>
                    <a:bodyPr/>
                    <a:lstStyle/>
                    <a:p>
                      <a:pPr algn="ctr">
                        <a:defRPr sz="1200">
                          <a:solidFill>
                            <a:srgbClr val="B0B8C8"/>
                          </a:solidFill>
                          <a:latin typeface="Segoe UI"/>
                        </a:defRPr>
                      </a:pPr>
                      <a:r>
                        <a:t>1e-9</a:t>
                      </a:r>
                    </a:p>
                  </a:txBody>
                  <a:tcPr>
                    <a:solidFill>
                      <a:srgbClr val="152035"/>
                    </a:solidFill>
                  </a:tcPr>
                </a:tc>
              </a:tr>
              <a:tr h="365760">
                <a:tc>
                  <a:txBody>
                    <a:bodyPr/>
                    <a:lstStyle/>
                    <a:p>
                      <a:pPr algn="ctr">
                        <a:defRPr sz="1200">
                          <a:solidFill>
                            <a:srgbClr val="B0B8C8"/>
                          </a:solidFill>
                          <a:latin typeface="Segoe UI"/>
                        </a:defRPr>
                      </a:pPr>
                      <a:r>
                        <a:t>Segment size</a:t>
                      </a:r>
                    </a:p>
                  </a:txBody>
                  <a:tcPr>
                    <a:solidFill>
                      <a:srgbClr val="1A253C"/>
                    </a:solidFill>
                  </a:tcPr>
                </a:tc>
                <a:tc>
                  <a:txBody>
                    <a:bodyPr/>
                    <a:lstStyle/>
                    <a:p>
                      <a:pPr algn="ctr">
                        <a:defRPr sz="1200">
                          <a:solidFill>
                            <a:srgbClr val="B0B8C8"/>
                          </a:solidFill>
                          <a:latin typeface="Segoe UI"/>
                        </a:defRPr>
                      </a:pPr>
                      <a:r>
                        <a:t>8192</a:t>
                      </a:r>
                    </a:p>
                  </a:txBody>
                  <a:tcPr>
                    <a:solidFill>
                      <a:srgbClr val="1A253C"/>
                    </a:solidFill>
                  </a:tcPr>
                </a:tc>
              </a:tr>
              <a:tr h="365760">
                <a:tc>
                  <a:txBody>
                    <a:bodyPr/>
                    <a:lstStyle/>
                    <a:p>
                      <a:pPr algn="ctr">
                        <a:defRPr sz="1200">
                          <a:solidFill>
                            <a:srgbClr val="B0B8C8"/>
                          </a:solidFill>
                          <a:latin typeface="Segoe UI"/>
                        </a:defRPr>
                      </a:pPr>
                      <a:r>
                        <a:t>FP16</a:t>
                      </a:r>
                    </a:p>
                  </a:txBody>
                  <a:tcPr>
                    <a:solidFill>
                      <a:srgbClr val="152035"/>
                    </a:solidFill>
                  </a:tcPr>
                </a:tc>
                <a:tc>
                  <a:txBody>
                    <a:bodyPr/>
                    <a:lstStyle/>
                    <a:p>
                      <a:pPr algn="ctr">
                        <a:defRPr sz="1200">
                          <a:solidFill>
                            <a:srgbClr val="B0B8C8"/>
                          </a:solidFill>
                          <a:latin typeface="Segoe UI"/>
                        </a:defRPr>
                      </a:pPr>
                      <a:r>
                        <a:t>True</a:t>
                      </a:r>
                    </a:p>
                  </a:txBody>
                  <a:tcPr>
                    <a:solidFill>
                      <a:srgbClr val="152035"/>
                    </a:solidFill>
                  </a:tcPr>
                </a:tc>
              </a:tr>
              <a:tr h="365760">
                <a:tc>
                  <a:txBody>
                    <a:bodyPr/>
                    <a:lstStyle/>
                    <a:p>
                      <a:pPr algn="ctr">
                        <a:defRPr sz="1200">
                          <a:solidFill>
                            <a:srgbClr val="B0B8C8"/>
                          </a:solidFill>
                          <a:latin typeface="Segoe UI"/>
                        </a:defRPr>
                      </a:pPr>
                      <a:r>
                        <a:t>c_mel / c_kl</a:t>
                      </a:r>
                    </a:p>
                  </a:txBody>
                  <a:tcPr>
                    <a:solidFill>
                      <a:srgbClr val="1A253C"/>
                    </a:solidFill>
                  </a:tcPr>
                </a:tc>
                <a:tc>
                  <a:txBody>
                    <a:bodyPr/>
                    <a:lstStyle/>
                    <a:p>
                      <a:pPr algn="ctr">
                        <a:defRPr sz="1200">
                          <a:solidFill>
                            <a:srgbClr val="B0B8C8"/>
                          </a:solidFill>
                          <a:latin typeface="Segoe UI"/>
                        </a:defRPr>
                      </a:pPr>
                      <a:r>
                        <a:t>45 / 1.0</a:t>
                      </a:r>
                    </a:p>
                  </a:txBody>
                  <a:tcPr>
                    <a:solidFill>
                      <a:srgbClr val="1A253C"/>
                    </a:solidFill>
                  </a:tcPr>
                </a:tc>
              </a:tr>
            </a:tbl>
          </a:graphicData>
        </a:graphic>
      </p:graphicFrame>
      <p:sp>
        <p:nvSpPr>
          <p:cNvPr id="7" name="Rounded Rectangle 6"/>
          <p:cNvSpPr/>
          <p:nvPr/>
        </p:nvSpPr>
        <p:spPr>
          <a:xfrm>
            <a:off x="6400800" y="1371600"/>
            <a:ext cx="5029200" cy="4846320"/>
          </a:xfrm>
          <a:prstGeom prst="roundRect">
            <a:avLst>
              <a:gd name="adj" fmla="val 5000"/>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1554480"/>
            <a:ext cx="4572000" cy="457200"/>
          </a:xfrm>
          <a:prstGeom prst="rect">
            <a:avLst/>
          </a:prstGeom>
          <a:noFill/>
        </p:spPr>
        <p:txBody>
          <a:bodyPr wrap="square">
            <a:spAutoFit/>
          </a:bodyPr>
          <a:lstStyle/>
          <a:p>
            <a:pPr algn="l">
              <a:defRPr sz="2200" b="1">
                <a:solidFill>
                  <a:srgbClr val="FB923C"/>
                </a:solidFill>
                <a:latin typeface="Segoe UI"/>
              </a:defRPr>
            </a:pPr>
            <a:r>
              <a:t>📝  Ghi chú huấn luyện</a:t>
            </a:r>
          </a:p>
        </p:txBody>
      </p:sp>
      <p:sp>
        <p:nvSpPr>
          <p:cNvPr id="9" name="TextBox 8"/>
          <p:cNvSpPr txBox="1"/>
          <p:nvPr/>
        </p:nvSpPr>
        <p:spPr>
          <a:xfrm>
            <a:off x="6675120" y="2194560"/>
            <a:ext cx="4572000" cy="3657600"/>
          </a:xfrm>
          <a:prstGeom prst="rect">
            <a:avLst/>
          </a:prstGeom>
          <a:noFill/>
        </p:spPr>
        <p:txBody>
          <a:bodyPr wrap="square">
            <a:spAutoFit/>
          </a:bodyPr>
          <a:lstStyle/>
          <a:p>
            <a:pPr>
              <a:spcAft>
                <a:spcPts val="800"/>
              </a:spcAft>
              <a:defRPr sz="1400">
                <a:solidFill>
                  <a:srgbClr val="B0B8C8"/>
                </a:solidFill>
                <a:latin typeface="Segoe UI"/>
              </a:defRPr>
            </a:pPr>
            <a:r>
              <a:t>▸  Framework: Piper TTS (dựa trên PyTorch Lightning)</a:t>
            </a:r>
          </a:p>
          <a:p>
            <a:pPr>
              <a:spcAft>
                <a:spcPts val="800"/>
              </a:spcAft>
              <a:defRPr sz="1400">
                <a:solidFill>
                  <a:srgbClr val="B0B8C8"/>
                </a:solidFill>
                <a:latin typeface="Segoe UI"/>
              </a:defRPr>
            </a:pPr>
            <a:r>
              <a:t>▸  Model đã train được 4,988 / 10,000 epochs</a:t>
            </a:r>
          </a:p>
          <a:p>
            <a:pPr>
              <a:spcAft>
                <a:spcPts val="800"/>
              </a:spcAft>
              <a:defRPr sz="1400">
                <a:solidFill>
                  <a:srgbClr val="B0B8C8"/>
                </a:solidFill>
                <a:latin typeface="Segoe UI"/>
              </a:defRPr>
            </a:pPr>
            <a:r>
              <a:t>▸  Export ONNX: model_epoch_4988.onnx (~60MB)</a:t>
            </a:r>
          </a:p>
          <a:p>
            <a:pPr>
              <a:spcAft>
                <a:spcPts val="800"/>
              </a:spcAft>
              <a:defRPr sz="1400">
                <a:solidFill>
                  <a:srgbClr val="B0B8C8"/>
                </a:solidFill>
                <a:latin typeface="Segoe UI"/>
              </a:defRPr>
            </a:pPr>
            <a:r>
              <a:t>▸  Optimizer: AdamW với LR scheduling</a:t>
            </a:r>
          </a:p>
          <a:p>
            <a:pPr>
              <a:spcAft>
                <a:spcPts val="800"/>
              </a:spcAft>
              <a:defRPr sz="1400">
                <a:solidFill>
                  <a:srgbClr val="B0B8C8"/>
                </a:solidFill>
                <a:latin typeface="Segoe UI"/>
              </a:defRPr>
            </a:pPr>
            <a:r>
              <a:t>▸  Loss function:</a:t>
            </a:r>
          </a:p>
          <a:p>
            <a:pPr>
              <a:spcAft>
                <a:spcPts val="800"/>
              </a:spcAft>
              <a:defRPr sz="1400">
                <a:solidFill>
                  <a:srgbClr val="B0B8C8"/>
                </a:solidFill>
                <a:latin typeface="Segoe UI"/>
              </a:defRPr>
            </a:pPr>
            <a:r>
              <a:t>▸      • Mel-spectrogram loss (c_mel=45)</a:t>
            </a:r>
          </a:p>
          <a:p>
            <a:pPr>
              <a:spcAft>
                <a:spcPts val="800"/>
              </a:spcAft>
              <a:defRPr sz="1400">
                <a:solidFill>
                  <a:srgbClr val="B0B8C8"/>
                </a:solidFill>
                <a:latin typeface="Segoe UI"/>
              </a:defRPr>
            </a:pPr>
            <a:r>
              <a:t>▸      • KL divergence loss (c_kl=1.0)</a:t>
            </a:r>
          </a:p>
          <a:p>
            <a:pPr>
              <a:spcAft>
                <a:spcPts val="800"/>
              </a:spcAft>
              <a:defRPr sz="1400">
                <a:solidFill>
                  <a:srgbClr val="B0B8C8"/>
                </a:solidFill>
                <a:latin typeface="Segoe UI"/>
              </a:defRPr>
            </a:pPr>
            <a:r>
              <a:t>▸      • Adversarial loss (GAN)</a:t>
            </a:r>
          </a:p>
          <a:p>
            <a:pPr>
              <a:spcAft>
                <a:spcPts val="800"/>
              </a:spcAft>
              <a:defRPr sz="1400">
                <a:solidFill>
                  <a:srgbClr val="B0B8C8"/>
                </a:solidFill>
                <a:latin typeface="Segoe UI"/>
              </a:defRPr>
            </a:pPr>
            <a:r>
              <a:t>▸  Mixed precision training (FP16) enabled</a:t>
            </a:r>
          </a:p>
          <a:p>
            <a:pPr>
              <a:spcAft>
                <a:spcPts val="800"/>
              </a:spcAft>
              <a:defRPr sz="1400">
                <a:solidFill>
                  <a:srgbClr val="B0B8C8"/>
                </a:solidFill>
                <a:latin typeface="Segoe UI"/>
              </a:defRPr>
            </a:pPr>
            <a:r>
              <a:t>▸  Checkpoint: Generator (G) + Discriminator (D)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640080"/>
          </a:xfrm>
          <a:prstGeom prst="rect">
            <a:avLst/>
          </a:prstGeom>
          <a:noFill/>
        </p:spPr>
        <p:txBody>
          <a:bodyPr wrap="square">
            <a:spAutoFit/>
          </a:bodyPr>
          <a:lstStyle/>
          <a:p>
            <a:pPr algn="l">
              <a:defRPr sz="3000" b="1">
                <a:solidFill>
                  <a:srgbClr val="38BDF8"/>
                </a:solidFill>
                <a:latin typeface="Segoe UI"/>
              </a:defRPr>
            </a:pPr>
            <a:r>
              <a:t>05 — Kết quả Inference</a:t>
            </a:r>
          </a:p>
        </p:txBody>
      </p:sp>
      <p:sp>
        <p:nvSpPr>
          <p:cNvPr id="3" name="Rectangle 2"/>
          <p:cNvSpPr/>
          <p:nvPr/>
        </p:nvSpPr>
        <p:spPr>
          <a:xfrm>
            <a:off x="731520" y="1005840"/>
            <a:ext cx="2286000" cy="381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10515600" cy="3200400"/>
          </a:xfrm>
          <a:prstGeom prst="roundRect">
            <a:avLst>
              <a:gd name="adj" fmla="val 5000"/>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463040"/>
            <a:ext cx="4572000" cy="457200"/>
          </a:xfrm>
          <a:prstGeom prst="rect">
            <a:avLst/>
          </a:prstGeom>
          <a:noFill/>
        </p:spPr>
        <p:txBody>
          <a:bodyPr wrap="square">
            <a:spAutoFit/>
          </a:bodyPr>
          <a:lstStyle/>
          <a:p>
            <a:pPr algn="l">
              <a:defRPr sz="2000" b="1">
                <a:solidFill>
                  <a:srgbClr val="4ADE80"/>
                </a:solidFill>
                <a:latin typeface="Segoe UI"/>
              </a:defRPr>
            </a:pPr>
            <a:r>
              <a:t>📊  Bảng kết quả tổng hợp giọng nói</a:t>
            </a:r>
          </a:p>
        </p:txBody>
      </p:sp>
      <p:graphicFrame>
        <p:nvGraphicFramePr>
          <p:cNvPr id="6" name="Table 5"/>
          <p:cNvGraphicFramePr>
            <a:graphicFrameLocks noGrp="1"/>
          </p:cNvGraphicFramePr>
          <p:nvPr/>
        </p:nvGraphicFramePr>
        <p:xfrm>
          <a:off x="914400" y="2011680"/>
          <a:ext cx="10058400" cy="2286000"/>
        </p:xfrm>
        <a:graphic>
          <a:graphicData uri="http://schemas.openxmlformats.org/drawingml/2006/table">
            <a:tbl>
              <a:tblPr firstRow="1" bandRow="1">
                <a:tableStyleId>{5C22544A-7EE6-4342-B048-85BDC9FD1C3A}</a:tableStyleId>
              </a:tblPr>
              <a:tblGrid>
                <a:gridCol w="2011680"/>
                <a:gridCol w="2011680"/>
                <a:gridCol w="2011680"/>
                <a:gridCol w="2011680"/>
                <a:gridCol w="2011680"/>
              </a:tblGrid>
              <a:tr h="381000">
                <a:tc>
                  <a:txBody>
                    <a:bodyPr/>
                    <a:lstStyle/>
                    <a:p>
                      <a:pPr algn="ctr">
                        <a:defRPr sz="1300" b="1">
                          <a:solidFill>
                            <a:srgbClr val="FFFFFF"/>
                          </a:solidFill>
                          <a:latin typeface="Segoe UI"/>
                        </a:defRPr>
                      </a:pPr>
                      <a:r>
                        <a:t>#</a:t>
                      </a:r>
                    </a:p>
                  </a:txBody>
                  <a:tcPr>
                    <a:solidFill>
                      <a:srgbClr val="1E3A5F"/>
                    </a:solidFill>
                  </a:tcPr>
                </a:tc>
                <a:tc>
                  <a:txBody>
                    <a:bodyPr/>
                    <a:lstStyle/>
                    <a:p>
                      <a:pPr algn="ctr">
                        <a:defRPr sz="1300" b="1">
                          <a:solidFill>
                            <a:srgbClr val="FFFFFF"/>
                          </a:solidFill>
                          <a:latin typeface="Segoe UI"/>
                        </a:defRPr>
                      </a:pPr>
                      <a:r>
                        <a:t>Câu test</a:t>
                      </a:r>
                    </a:p>
                  </a:txBody>
                  <a:tcPr>
                    <a:solidFill>
                      <a:srgbClr val="1E3A5F"/>
                    </a:solidFill>
                  </a:tcPr>
                </a:tc>
                <a:tc>
                  <a:txBody>
                    <a:bodyPr/>
                    <a:lstStyle/>
                    <a:p>
                      <a:pPr algn="ctr">
                        <a:defRPr sz="1300" b="1">
                          <a:solidFill>
                            <a:srgbClr val="FFFFFF"/>
                          </a:solidFill>
                          <a:latin typeface="Segoe UI"/>
                        </a:defRPr>
                      </a:pPr>
                      <a:r>
                        <a:t>Inference</a:t>
                      </a:r>
                    </a:p>
                  </a:txBody>
                  <a:tcPr>
                    <a:solidFill>
                      <a:srgbClr val="1E3A5F"/>
                    </a:solidFill>
                  </a:tcPr>
                </a:tc>
                <a:tc>
                  <a:txBody>
                    <a:bodyPr/>
                    <a:lstStyle/>
                    <a:p>
                      <a:pPr algn="ctr">
                        <a:defRPr sz="1300" b="1">
                          <a:solidFill>
                            <a:srgbClr val="FFFFFF"/>
                          </a:solidFill>
                          <a:latin typeface="Segoe UI"/>
                        </a:defRPr>
                      </a:pPr>
                      <a:r>
                        <a:t>Audio</a:t>
                      </a:r>
                    </a:p>
                  </a:txBody>
                  <a:tcPr>
                    <a:solidFill>
                      <a:srgbClr val="1E3A5F"/>
                    </a:solidFill>
                  </a:tcPr>
                </a:tc>
                <a:tc>
                  <a:txBody>
                    <a:bodyPr/>
                    <a:lstStyle/>
                    <a:p>
                      <a:pPr algn="ctr">
                        <a:defRPr sz="1300" b="1">
                          <a:solidFill>
                            <a:srgbClr val="FFFFFF"/>
                          </a:solidFill>
                          <a:latin typeface="Segoe UI"/>
                        </a:defRPr>
                      </a:pPr>
                      <a:r>
                        <a:t>RTF</a:t>
                      </a:r>
                    </a:p>
                  </a:txBody>
                  <a:tcPr>
                    <a:solidFill>
                      <a:srgbClr val="1E3A5F"/>
                    </a:solidFill>
                  </a:tcPr>
                </a:tc>
              </a:tr>
              <a:tr h="381000">
                <a:tc>
                  <a:txBody>
                    <a:bodyPr/>
                    <a:lstStyle/>
                    <a:p>
                      <a:pPr algn="ctr">
                        <a:defRPr sz="1200">
                          <a:solidFill>
                            <a:srgbClr val="B0B8C8"/>
                          </a:solidFill>
                          <a:latin typeface="Segoe UI"/>
                        </a:defRPr>
                      </a:pPr>
                      <a:r>
                        <a:t>1</a:t>
                      </a:r>
                    </a:p>
                  </a:txBody>
                  <a:tcPr>
                    <a:solidFill>
                      <a:srgbClr val="1A253C"/>
                    </a:solidFill>
                  </a:tcPr>
                </a:tc>
                <a:tc>
                  <a:txBody>
                    <a:bodyPr/>
                    <a:lstStyle/>
                    <a:p>
                      <a:pPr algn="ctr">
                        <a:defRPr sz="1200">
                          <a:solidFill>
                            <a:srgbClr val="B0B8C8"/>
                          </a:solidFill>
                          <a:latin typeface="Segoe UI"/>
                        </a:defRPr>
                      </a:pPr>
                      <a:r>
                        <a:t>Xin chào, tôi là trợ lý ảo tiếng Việt.</a:t>
                      </a:r>
                    </a:p>
                  </a:txBody>
                  <a:tcPr>
                    <a:solidFill>
                      <a:srgbClr val="1A253C"/>
                    </a:solidFill>
                  </a:tcPr>
                </a:tc>
                <a:tc>
                  <a:txBody>
                    <a:bodyPr/>
                    <a:lstStyle/>
                    <a:p>
                      <a:pPr algn="ctr">
                        <a:defRPr sz="1200">
                          <a:solidFill>
                            <a:srgbClr val="B0B8C8"/>
                          </a:solidFill>
                          <a:latin typeface="Segoe UI"/>
                        </a:defRPr>
                      </a:pPr>
                      <a:r>
                        <a:t>0.14s</a:t>
                      </a:r>
                    </a:p>
                  </a:txBody>
                  <a:tcPr>
                    <a:solidFill>
                      <a:srgbClr val="1A253C"/>
                    </a:solidFill>
                  </a:tcPr>
                </a:tc>
                <a:tc>
                  <a:txBody>
                    <a:bodyPr/>
                    <a:lstStyle/>
                    <a:p>
                      <a:pPr algn="ctr">
                        <a:defRPr sz="1200">
                          <a:solidFill>
                            <a:srgbClr val="B0B8C8"/>
                          </a:solidFill>
                          <a:latin typeface="Segoe UI"/>
                        </a:defRPr>
                      </a:pPr>
                      <a:r>
                        <a:t>2.47s</a:t>
                      </a:r>
                    </a:p>
                  </a:txBody>
                  <a:tcPr>
                    <a:solidFill>
                      <a:srgbClr val="1A253C"/>
                    </a:solidFill>
                  </a:tcPr>
                </a:tc>
                <a:tc>
                  <a:txBody>
                    <a:bodyPr/>
                    <a:lstStyle/>
                    <a:p>
                      <a:pPr algn="ctr">
                        <a:defRPr sz="1200">
                          <a:solidFill>
                            <a:srgbClr val="B0B8C8"/>
                          </a:solidFill>
                          <a:latin typeface="Segoe UI"/>
                        </a:defRPr>
                      </a:pPr>
                      <a:r>
                        <a:t>0.056</a:t>
                      </a:r>
                    </a:p>
                  </a:txBody>
                  <a:tcPr>
                    <a:solidFill>
                      <a:srgbClr val="1A253C"/>
                    </a:solidFill>
                  </a:tcPr>
                </a:tc>
              </a:tr>
              <a:tr h="381000">
                <a:tc>
                  <a:txBody>
                    <a:bodyPr/>
                    <a:lstStyle/>
                    <a:p>
                      <a:pPr algn="ctr">
                        <a:defRPr sz="1200">
                          <a:solidFill>
                            <a:srgbClr val="B0B8C8"/>
                          </a:solidFill>
                          <a:latin typeface="Segoe UI"/>
                        </a:defRPr>
                      </a:pPr>
                      <a:r>
                        <a:t>2</a:t>
                      </a:r>
                    </a:p>
                  </a:txBody>
                  <a:tcPr>
                    <a:solidFill>
                      <a:srgbClr val="152035"/>
                    </a:solidFill>
                  </a:tcPr>
                </a:tc>
                <a:tc>
                  <a:txBody>
                    <a:bodyPr/>
                    <a:lstStyle/>
                    <a:p>
                      <a:pPr algn="ctr">
                        <a:defRPr sz="1200">
                          <a:solidFill>
                            <a:srgbClr val="B0B8C8"/>
                          </a:solidFill>
                          <a:latin typeface="Segoe UI"/>
                        </a:defRPr>
                      </a:pPr>
                      <a:r>
                        <a:t>Hôm nay thời tiết rất đẹp, chúng ta hãy đi dạo nhé.</a:t>
                      </a:r>
                    </a:p>
                  </a:txBody>
                  <a:tcPr>
                    <a:solidFill>
                      <a:srgbClr val="152035"/>
                    </a:solidFill>
                  </a:tcPr>
                </a:tc>
                <a:tc>
                  <a:txBody>
                    <a:bodyPr/>
                    <a:lstStyle/>
                    <a:p>
                      <a:pPr algn="ctr">
                        <a:defRPr sz="1200">
                          <a:solidFill>
                            <a:srgbClr val="B0B8C8"/>
                          </a:solidFill>
                          <a:latin typeface="Segoe UI"/>
                        </a:defRPr>
                      </a:pPr>
                      <a:r>
                        <a:t>0.12s</a:t>
                      </a:r>
                    </a:p>
                  </a:txBody>
                  <a:tcPr>
                    <a:solidFill>
                      <a:srgbClr val="152035"/>
                    </a:solidFill>
                  </a:tcPr>
                </a:tc>
                <a:tc>
                  <a:txBody>
                    <a:bodyPr/>
                    <a:lstStyle/>
                    <a:p>
                      <a:pPr algn="ctr">
                        <a:defRPr sz="1200">
                          <a:solidFill>
                            <a:srgbClr val="B0B8C8"/>
                          </a:solidFill>
                          <a:latin typeface="Segoe UI"/>
                        </a:defRPr>
                      </a:pPr>
                      <a:r>
                        <a:t>3.07s</a:t>
                      </a:r>
                    </a:p>
                  </a:txBody>
                  <a:tcPr>
                    <a:solidFill>
                      <a:srgbClr val="152035"/>
                    </a:solidFill>
                  </a:tcPr>
                </a:tc>
                <a:tc>
                  <a:txBody>
                    <a:bodyPr/>
                    <a:lstStyle/>
                    <a:p>
                      <a:pPr algn="ctr">
                        <a:defRPr sz="1200">
                          <a:solidFill>
                            <a:srgbClr val="B0B8C8"/>
                          </a:solidFill>
                          <a:latin typeface="Segoe UI"/>
                        </a:defRPr>
                      </a:pPr>
                      <a:r>
                        <a:t>0.040</a:t>
                      </a:r>
                    </a:p>
                  </a:txBody>
                  <a:tcPr>
                    <a:solidFill>
                      <a:srgbClr val="152035"/>
                    </a:solidFill>
                  </a:tcPr>
                </a:tc>
              </a:tr>
              <a:tr h="381000">
                <a:tc>
                  <a:txBody>
                    <a:bodyPr/>
                    <a:lstStyle/>
                    <a:p>
                      <a:pPr algn="ctr">
                        <a:defRPr sz="1200">
                          <a:solidFill>
                            <a:srgbClr val="B0B8C8"/>
                          </a:solidFill>
                          <a:latin typeface="Segoe UI"/>
                        </a:defRPr>
                      </a:pPr>
                      <a:r>
                        <a:t>3</a:t>
                      </a:r>
                    </a:p>
                  </a:txBody>
                  <a:tcPr>
                    <a:solidFill>
                      <a:srgbClr val="1A253C"/>
                    </a:solidFill>
                  </a:tcPr>
                </a:tc>
                <a:tc>
                  <a:txBody>
                    <a:bodyPr/>
                    <a:lstStyle/>
                    <a:p>
                      <a:pPr algn="ctr">
                        <a:defRPr sz="1200">
                          <a:solidFill>
                            <a:srgbClr val="B0B8C8"/>
                          </a:solidFill>
                          <a:latin typeface="Segoe UI"/>
                        </a:defRPr>
                      </a:pPr>
                      <a:r>
                        <a:t>Trí tuệ nhân tạo đang thay đổi thế giới.</a:t>
                      </a:r>
                    </a:p>
                  </a:txBody>
                  <a:tcPr>
                    <a:solidFill>
                      <a:srgbClr val="1A253C"/>
                    </a:solidFill>
                  </a:tcPr>
                </a:tc>
                <a:tc>
                  <a:txBody>
                    <a:bodyPr/>
                    <a:lstStyle/>
                    <a:p>
                      <a:pPr algn="ctr">
                        <a:defRPr sz="1200">
                          <a:solidFill>
                            <a:srgbClr val="B0B8C8"/>
                          </a:solidFill>
                          <a:latin typeface="Segoe UI"/>
                        </a:defRPr>
                      </a:pPr>
                      <a:r>
                        <a:t>0.10s</a:t>
                      </a:r>
                    </a:p>
                  </a:txBody>
                  <a:tcPr>
                    <a:solidFill>
                      <a:srgbClr val="1A253C"/>
                    </a:solidFill>
                  </a:tcPr>
                </a:tc>
                <a:tc>
                  <a:txBody>
                    <a:bodyPr/>
                    <a:lstStyle/>
                    <a:p>
                      <a:pPr algn="ctr">
                        <a:defRPr sz="1200">
                          <a:solidFill>
                            <a:srgbClr val="B0B8C8"/>
                          </a:solidFill>
                          <a:latin typeface="Segoe UI"/>
                        </a:defRPr>
                      </a:pPr>
                      <a:r>
                        <a:t>2.44s</a:t>
                      </a:r>
                    </a:p>
                  </a:txBody>
                  <a:tcPr>
                    <a:solidFill>
                      <a:srgbClr val="1A253C"/>
                    </a:solidFill>
                  </a:tcPr>
                </a:tc>
                <a:tc>
                  <a:txBody>
                    <a:bodyPr/>
                    <a:lstStyle/>
                    <a:p>
                      <a:pPr algn="ctr">
                        <a:defRPr sz="1200">
                          <a:solidFill>
                            <a:srgbClr val="B0B8C8"/>
                          </a:solidFill>
                          <a:latin typeface="Segoe UI"/>
                        </a:defRPr>
                      </a:pPr>
                      <a:r>
                        <a:t>0.041</a:t>
                      </a:r>
                    </a:p>
                  </a:txBody>
                  <a:tcPr>
                    <a:solidFill>
                      <a:srgbClr val="1A253C"/>
                    </a:solidFill>
                  </a:tcPr>
                </a:tc>
              </a:tr>
              <a:tr h="381000">
                <a:tc>
                  <a:txBody>
                    <a:bodyPr/>
                    <a:lstStyle/>
                    <a:p>
                      <a:pPr algn="ctr">
                        <a:defRPr sz="1200">
                          <a:solidFill>
                            <a:srgbClr val="B0B8C8"/>
                          </a:solidFill>
                          <a:latin typeface="Segoe UI"/>
                        </a:defRPr>
                      </a:pPr>
                      <a:r>
                        <a:t>4</a:t>
                      </a:r>
                    </a:p>
                  </a:txBody>
                  <a:tcPr>
                    <a:solidFill>
                      <a:srgbClr val="152035"/>
                    </a:solidFill>
                  </a:tcPr>
                </a:tc>
                <a:tc>
                  <a:txBody>
                    <a:bodyPr/>
                    <a:lstStyle/>
                    <a:p>
                      <a:pPr algn="ctr">
                        <a:defRPr sz="1200">
                          <a:solidFill>
                            <a:srgbClr val="B0B8C8"/>
                          </a:solidFill>
                          <a:latin typeface="Segoe UI"/>
                        </a:defRPr>
                      </a:pPr>
                      <a:r>
                        <a:t>Việt Nam là đất nước tươi đẹp với nhiều danh lam...</a:t>
                      </a:r>
                    </a:p>
                  </a:txBody>
                  <a:tcPr>
                    <a:solidFill>
                      <a:srgbClr val="152035"/>
                    </a:solidFill>
                  </a:tcPr>
                </a:tc>
                <a:tc>
                  <a:txBody>
                    <a:bodyPr/>
                    <a:lstStyle/>
                    <a:p>
                      <a:pPr algn="ctr">
                        <a:defRPr sz="1200">
                          <a:solidFill>
                            <a:srgbClr val="B0B8C8"/>
                          </a:solidFill>
                          <a:latin typeface="Segoe UI"/>
                        </a:defRPr>
                      </a:pPr>
                      <a:r>
                        <a:t>0.14s</a:t>
                      </a:r>
                    </a:p>
                  </a:txBody>
                  <a:tcPr>
                    <a:solidFill>
                      <a:srgbClr val="152035"/>
                    </a:solidFill>
                  </a:tcPr>
                </a:tc>
                <a:tc>
                  <a:txBody>
                    <a:bodyPr/>
                    <a:lstStyle/>
                    <a:p>
                      <a:pPr algn="ctr">
                        <a:defRPr sz="1200">
                          <a:solidFill>
                            <a:srgbClr val="B0B8C8"/>
                          </a:solidFill>
                          <a:latin typeface="Segoe UI"/>
                        </a:defRPr>
                      </a:pPr>
                      <a:r>
                        <a:t>3.18s</a:t>
                      </a:r>
                    </a:p>
                  </a:txBody>
                  <a:tcPr>
                    <a:solidFill>
                      <a:srgbClr val="152035"/>
                    </a:solidFill>
                  </a:tcPr>
                </a:tc>
                <a:tc>
                  <a:txBody>
                    <a:bodyPr/>
                    <a:lstStyle/>
                    <a:p>
                      <a:pPr algn="ctr">
                        <a:defRPr sz="1200">
                          <a:solidFill>
                            <a:srgbClr val="B0B8C8"/>
                          </a:solidFill>
                          <a:latin typeface="Segoe UI"/>
                        </a:defRPr>
                      </a:pPr>
                      <a:r>
                        <a:t>0.043</a:t>
                      </a:r>
                    </a:p>
                  </a:txBody>
                  <a:tcPr>
                    <a:solidFill>
                      <a:srgbClr val="152035"/>
                    </a:solidFill>
                  </a:tcPr>
                </a:tc>
              </a:tr>
              <a:tr h="381000">
                <a:tc>
                  <a:txBody>
                    <a:bodyPr/>
                    <a:lstStyle/>
                    <a:p>
                      <a:pPr algn="ctr">
                        <a:defRPr sz="1200">
                          <a:solidFill>
                            <a:srgbClr val="B0B8C8"/>
                          </a:solidFill>
                          <a:latin typeface="Segoe UI"/>
                        </a:defRPr>
                      </a:pPr>
                      <a:r>
                        <a:t>5</a:t>
                      </a:r>
                    </a:p>
                  </a:txBody>
                  <a:tcPr>
                    <a:solidFill>
                      <a:srgbClr val="1A253C"/>
                    </a:solidFill>
                  </a:tcPr>
                </a:tc>
                <a:tc>
                  <a:txBody>
                    <a:bodyPr/>
                    <a:lstStyle/>
                    <a:p>
                      <a:pPr algn="ctr">
                        <a:defRPr sz="1200">
                          <a:solidFill>
                            <a:srgbClr val="B0B8C8"/>
                          </a:solidFill>
                          <a:latin typeface="Segoe UI"/>
                        </a:defRPr>
                      </a:pPr>
                      <a:r>
                        <a:t>Cảm ơn bạn đã sử dụng mô hình tổng hợp giọng nói.</a:t>
                      </a:r>
                    </a:p>
                  </a:txBody>
                  <a:tcPr>
                    <a:solidFill>
                      <a:srgbClr val="1A253C"/>
                    </a:solidFill>
                  </a:tcPr>
                </a:tc>
                <a:tc>
                  <a:txBody>
                    <a:bodyPr/>
                    <a:lstStyle/>
                    <a:p>
                      <a:pPr algn="ctr">
                        <a:defRPr sz="1200">
                          <a:solidFill>
                            <a:srgbClr val="B0B8C8"/>
                          </a:solidFill>
                          <a:latin typeface="Segoe UI"/>
                        </a:defRPr>
                      </a:pPr>
                      <a:r>
                        <a:t>0.12s</a:t>
                      </a:r>
                    </a:p>
                  </a:txBody>
                  <a:tcPr>
                    <a:solidFill>
                      <a:srgbClr val="1A253C"/>
                    </a:solidFill>
                  </a:tcPr>
                </a:tc>
                <a:tc>
                  <a:txBody>
                    <a:bodyPr/>
                    <a:lstStyle/>
                    <a:p>
                      <a:pPr algn="ctr">
                        <a:defRPr sz="1200">
                          <a:solidFill>
                            <a:srgbClr val="B0B8C8"/>
                          </a:solidFill>
                          <a:latin typeface="Segoe UI"/>
                        </a:defRPr>
                      </a:pPr>
                      <a:r>
                        <a:t>3.00s</a:t>
                      </a:r>
                    </a:p>
                  </a:txBody>
                  <a:tcPr>
                    <a:solidFill>
                      <a:srgbClr val="1A253C"/>
                    </a:solidFill>
                  </a:tcPr>
                </a:tc>
                <a:tc>
                  <a:txBody>
                    <a:bodyPr/>
                    <a:lstStyle/>
                    <a:p>
                      <a:pPr algn="ctr">
                        <a:defRPr sz="1200">
                          <a:solidFill>
                            <a:srgbClr val="B0B8C8"/>
                          </a:solidFill>
                          <a:latin typeface="Segoe UI"/>
                        </a:defRPr>
                      </a:pPr>
                      <a:r>
                        <a:t>0.042</a:t>
                      </a:r>
                    </a:p>
                  </a:txBody>
                  <a:tcPr>
                    <a:solidFill>
                      <a:srgbClr val="1A253C"/>
                    </a:solidFill>
                  </a:tcPr>
                </a:tc>
              </a:tr>
            </a:tbl>
          </a:graphicData>
        </a:graphic>
      </p:graphicFrame>
      <p:sp>
        <p:nvSpPr>
          <p:cNvPr id="7" name="Rounded Rectangle 6"/>
          <p:cNvSpPr/>
          <p:nvPr/>
        </p:nvSpPr>
        <p:spPr>
          <a:xfrm>
            <a:off x="731520" y="4846320"/>
            <a:ext cx="2468880" cy="1371600"/>
          </a:xfrm>
          <a:prstGeom prst="roundRect">
            <a:avLst>
              <a:gd name="adj" fmla="val 5000"/>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983480"/>
            <a:ext cx="2103120" cy="365760"/>
          </a:xfrm>
          <a:prstGeom prst="rect">
            <a:avLst/>
          </a:prstGeom>
          <a:noFill/>
        </p:spPr>
        <p:txBody>
          <a:bodyPr wrap="square">
            <a:spAutoFit/>
          </a:bodyPr>
          <a:lstStyle/>
          <a:p>
            <a:pPr algn="l">
              <a:defRPr sz="1400" b="0">
                <a:solidFill>
                  <a:srgbClr val="64748B"/>
                </a:solidFill>
                <a:latin typeface="Segoe UI"/>
              </a:defRPr>
            </a:pPr>
            <a:r>
              <a:t>⚡ Avg Inference</a:t>
            </a:r>
          </a:p>
        </p:txBody>
      </p:sp>
      <p:sp>
        <p:nvSpPr>
          <p:cNvPr id="9" name="TextBox 8"/>
          <p:cNvSpPr txBox="1"/>
          <p:nvPr/>
        </p:nvSpPr>
        <p:spPr>
          <a:xfrm>
            <a:off x="914400" y="5394960"/>
            <a:ext cx="2103120" cy="548640"/>
          </a:xfrm>
          <a:prstGeom prst="rect">
            <a:avLst/>
          </a:prstGeom>
          <a:noFill/>
        </p:spPr>
        <p:txBody>
          <a:bodyPr wrap="square">
            <a:spAutoFit/>
          </a:bodyPr>
          <a:lstStyle/>
          <a:p>
            <a:pPr algn="l">
              <a:defRPr sz="2800" b="1">
                <a:solidFill>
                  <a:srgbClr val="38BDF8"/>
                </a:solidFill>
                <a:latin typeface="Segoe UI"/>
              </a:defRPr>
            </a:pPr>
            <a:r>
              <a:t>0.12s</a:t>
            </a:r>
          </a:p>
        </p:txBody>
      </p:sp>
      <p:sp>
        <p:nvSpPr>
          <p:cNvPr id="10" name="Rounded Rectangle 9"/>
          <p:cNvSpPr/>
          <p:nvPr/>
        </p:nvSpPr>
        <p:spPr>
          <a:xfrm>
            <a:off x="3474720" y="4846320"/>
            <a:ext cx="2468880" cy="1371600"/>
          </a:xfrm>
          <a:prstGeom prst="roundRect">
            <a:avLst>
              <a:gd name="adj" fmla="val 5000"/>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4983480"/>
            <a:ext cx="2103120" cy="365760"/>
          </a:xfrm>
          <a:prstGeom prst="rect">
            <a:avLst/>
          </a:prstGeom>
          <a:noFill/>
        </p:spPr>
        <p:txBody>
          <a:bodyPr wrap="square">
            <a:spAutoFit/>
          </a:bodyPr>
          <a:lstStyle/>
          <a:p>
            <a:pPr algn="l">
              <a:defRPr sz="1400" b="0">
                <a:solidFill>
                  <a:srgbClr val="64748B"/>
                </a:solidFill>
                <a:latin typeface="Segoe UI"/>
              </a:defRPr>
            </a:pPr>
            <a:r>
              <a:t>🔊 Avg Audio</a:t>
            </a:r>
          </a:p>
        </p:txBody>
      </p:sp>
      <p:sp>
        <p:nvSpPr>
          <p:cNvPr id="12" name="TextBox 11"/>
          <p:cNvSpPr txBox="1"/>
          <p:nvPr/>
        </p:nvSpPr>
        <p:spPr>
          <a:xfrm>
            <a:off x="3657600" y="5394960"/>
            <a:ext cx="2103120" cy="548640"/>
          </a:xfrm>
          <a:prstGeom prst="rect">
            <a:avLst/>
          </a:prstGeom>
          <a:noFill/>
        </p:spPr>
        <p:txBody>
          <a:bodyPr wrap="square">
            <a:spAutoFit/>
          </a:bodyPr>
          <a:lstStyle/>
          <a:p>
            <a:pPr algn="l">
              <a:defRPr sz="2800" b="1">
                <a:solidFill>
                  <a:srgbClr val="4ADE80"/>
                </a:solidFill>
                <a:latin typeface="Segoe UI"/>
              </a:defRPr>
            </a:pPr>
            <a:r>
              <a:t>2.83s</a:t>
            </a:r>
          </a:p>
        </p:txBody>
      </p:sp>
      <p:sp>
        <p:nvSpPr>
          <p:cNvPr id="13" name="Rounded Rectangle 12"/>
          <p:cNvSpPr/>
          <p:nvPr/>
        </p:nvSpPr>
        <p:spPr>
          <a:xfrm>
            <a:off x="6217920" y="4846320"/>
            <a:ext cx="2468880" cy="1371600"/>
          </a:xfrm>
          <a:prstGeom prst="roundRect">
            <a:avLst>
              <a:gd name="adj" fmla="val 5000"/>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4983480"/>
            <a:ext cx="2103120" cy="365760"/>
          </a:xfrm>
          <a:prstGeom prst="rect">
            <a:avLst/>
          </a:prstGeom>
          <a:noFill/>
        </p:spPr>
        <p:txBody>
          <a:bodyPr wrap="square">
            <a:spAutoFit/>
          </a:bodyPr>
          <a:lstStyle/>
          <a:p>
            <a:pPr algn="l">
              <a:defRPr sz="1400" b="0">
                <a:solidFill>
                  <a:srgbClr val="64748B"/>
                </a:solidFill>
                <a:latin typeface="Segoe UI"/>
              </a:defRPr>
            </a:pPr>
            <a:r>
              <a:t>📈 Avg RTF</a:t>
            </a:r>
          </a:p>
        </p:txBody>
      </p:sp>
      <p:sp>
        <p:nvSpPr>
          <p:cNvPr id="15" name="TextBox 14"/>
          <p:cNvSpPr txBox="1"/>
          <p:nvPr/>
        </p:nvSpPr>
        <p:spPr>
          <a:xfrm>
            <a:off x="6400800" y="5394960"/>
            <a:ext cx="2103120" cy="548640"/>
          </a:xfrm>
          <a:prstGeom prst="rect">
            <a:avLst/>
          </a:prstGeom>
          <a:noFill/>
        </p:spPr>
        <p:txBody>
          <a:bodyPr wrap="square">
            <a:spAutoFit/>
          </a:bodyPr>
          <a:lstStyle/>
          <a:p>
            <a:pPr algn="l">
              <a:defRPr sz="2800" b="1">
                <a:solidFill>
                  <a:srgbClr val="A78BFA"/>
                </a:solidFill>
                <a:latin typeface="Segoe UI"/>
              </a:defRPr>
            </a:pPr>
            <a:r>
              <a:t>0.044</a:t>
            </a:r>
          </a:p>
        </p:txBody>
      </p:sp>
      <p:sp>
        <p:nvSpPr>
          <p:cNvPr id="16" name="Rounded Rectangle 15"/>
          <p:cNvSpPr/>
          <p:nvPr/>
        </p:nvSpPr>
        <p:spPr>
          <a:xfrm>
            <a:off x="8961120" y="4846320"/>
            <a:ext cx="2468880" cy="1371600"/>
          </a:xfrm>
          <a:prstGeom prst="roundRect">
            <a:avLst>
              <a:gd name="adj" fmla="val 5000"/>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0" y="4983480"/>
            <a:ext cx="2103120" cy="365760"/>
          </a:xfrm>
          <a:prstGeom prst="rect">
            <a:avLst/>
          </a:prstGeom>
          <a:noFill/>
        </p:spPr>
        <p:txBody>
          <a:bodyPr wrap="square">
            <a:spAutoFit/>
          </a:bodyPr>
          <a:lstStyle/>
          <a:p>
            <a:pPr algn="l">
              <a:defRPr sz="1400" b="0">
                <a:solidFill>
                  <a:srgbClr val="64748B"/>
                </a:solidFill>
                <a:latin typeface="Segoe UI"/>
              </a:defRPr>
            </a:pPr>
            <a:r>
              <a:t>🖥️ Platform</a:t>
            </a:r>
          </a:p>
        </p:txBody>
      </p:sp>
      <p:sp>
        <p:nvSpPr>
          <p:cNvPr id="18" name="TextBox 17"/>
          <p:cNvSpPr txBox="1"/>
          <p:nvPr/>
        </p:nvSpPr>
        <p:spPr>
          <a:xfrm>
            <a:off x="9144000" y="5394960"/>
            <a:ext cx="2103120" cy="548640"/>
          </a:xfrm>
          <a:prstGeom prst="rect">
            <a:avLst/>
          </a:prstGeom>
          <a:noFill/>
        </p:spPr>
        <p:txBody>
          <a:bodyPr wrap="square">
            <a:spAutoFit/>
          </a:bodyPr>
          <a:lstStyle/>
          <a:p>
            <a:pPr algn="l">
              <a:defRPr sz="2800" b="1">
                <a:solidFill>
                  <a:srgbClr val="FB923C"/>
                </a:solidFill>
                <a:latin typeface="Segoe UI"/>
              </a:defRPr>
            </a:pPr>
            <a:r>
              <a:t>CPU (ONNX Runtime)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640080"/>
          </a:xfrm>
          <a:prstGeom prst="rect">
            <a:avLst/>
          </a:prstGeom>
          <a:noFill/>
        </p:spPr>
        <p:txBody>
          <a:bodyPr wrap="square">
            <a:spAutoFit/>
          </a:bodyPr>
          <a:lstStyle/>
          <a:p>
            <a:pPr algn="l">
              <a:defRPr sz="3000" b="1">
                <a:solidFill>
                  <a:srgbClr val="38BDF8"/>
                </a:solidFill>
                <a:latin typeface="Segoe UI"/>
              </a:defRPr>
            </a:pPr>
            <a:r>
              <a:t>05b — Test đoạn văn bản dài</a:t>
            </a:r>
          </a:p>
        </p:txBody>
      </p:sp>
      <p:sp>
        <p:nvSpPr>
          <p:cNvPr id="3" name="Rectangle 2"/>
          <p:cNvSpPr/>
          <p:nvPr/>
        </p:nvSpPr>
        <p:spPr>
          <a:xfrm>
            <a:off x="731520" y="1005840"/>
            <a:ext cx="2286000" cy="381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10515600" cy="2560320"/>
          </a:xfrm>
          <a:prstGeom prst="roundRect">
            <a:avLst>
              <a:gd name="adj" fmla="val 5000"/>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554480"/>
            <a:ext cx="10058400" cy="365760"/>
          </a:xfrm>
          <a:prstGeom prst="rect">
            <a:avLst/>
          </a:prstGeom>
          <a:noFill/>
        </p:spPr>
        <p:txBody>
          <a:bodyPr wrap="square">
            <a:spAutoFit/>
          </a:bodyPr>
          <a:lstStyle/>
          <a:p>
            <a:pPr algn="l">
              <a:defRPr sz="1600" b="0">
                <a:solidFill>
                  <a:srgbClr val="64748B"/>
                </a:solidFill>
                <a:latin typeface="Segoe UI"/>
              </a:defRPr>
            </a:pPr>
            <a:r>
              <a:t>📝 Đoạn văn test (~100 từ, 4 câu):</a:t>
            </a:r>
          </a:p>
        </p:txBody>
      </p:sp>
      <p:sp>
        <p:nvSpPr>
          <p:cNvPr id="6" name="TextBox 5"/>
          <p:cNvSpPr txBox="1"/>
          <p:nvPr/>
        </p:nvSpPr>
        <p:spPr>
          <a:xfrm>
            <a:off x="1005840" y="2011680"/>
            <a:ext cx="10058400" cy="1645920"/>
          </a:xfrm>
          <a:prstGeom prst="rect">
            <a:avLst/>
          </a:prstGeom>
          <a:noFill/>
        </p:spPr>
        <p:txBody>
          <a:bodyPr wrap="square">
            <a:spAutoFit/>
          </a:bodyPr>
          <a:lstStyle/>
          <a:p>
            <a:pPr algn="l">
              <a:defRPr sz="1400" b="0">
                <a:solidFill>
                  <a:srgbClr val="B0B8C8"/>
                </a:solidFill>
                <a:latin typeface="Segoe UI"/>
              </a:defRPr>
            </a:pPr>
            <a:r>
              <a:t>"Việt Nam là một quốc gia nằm ở phía đông bán đảo Đông Dương, thuộc khu vực Đông Nam Á. Với đường bờ biển dài hơn ba nghìn hai trăm kilômét, Việt Nam sở hữu nhiều bãi biển đẹp và vịnh nổi tiếng thế giới như vịnh Hạ Long, đã được UNESCO công nhận là di sản thiên nhiên thế giới. Đất nước hình chữ S này có nền văn hóa lâu đời với hơn bốn nghìn năm lịch sử..."</a:t>
            </a:r>
          </a:p>
        </p:txBody>
      </p:sp>
      <p:sp>
        <p:nvSpPr>
          <p:cNvPr id="7" name="Rounded Rectangle 6"/>
          <p:cNvSpPr/>
          <p:nvPr/>
        </p:nvSpPr>
        <p:spPr>
          <a:xfrm>
            <a:off x="731520" y="4297680"/>
            <a:ext cx="2468880" cy="2011680"/>
          </a:xfrm>
          <a:prstGeom prst="roundRect">
            <a:avLst>
              <a:gd name="adj" fmla="val 5000"/>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480560"/>
            <a:ext cx="2103120" cy="457200"/>
          </a:xfrm>
          <a:prstGeom prst="rect">
            <a:avLst/>
          </a:prstGeom>
          <a:noFill/>
        </p:spPr>
        <p:txBody>
          <a:bodyPr wrap="square">
            <a:spAutoFit/>
          </a:bodyPr>
          <a:lstStyle/>
          <a:p>
            <a:pPr algn="l">
              <a:defRPr sz="1400" b="0">
                <a:solidFill>
                  <a:srgbClr val="64748B"/>
                </a:solidFill>
                <a:latin typeface="Segoe UI"/>
              </a:defRPr>
            </a:pPr>
            <a:r>
              <a:t>⏱️ Thời gian Inference</a:t>
            </a:r>
          </a:p>
        </p:txBody>
      </p:sp>
      <p:sp>
        <p:nvSpPr>
          <p:cNvPr id="9" name="TextBox 8"/>
          <p:cNvSpPr txBox="1"/>
          <p:nvPr/>
        </p:nvSpPr>
        <p:spPr>
          <a:xfrm>
            <a:off x="914400" y="5029200"/>
            <a:ext cx="2103120" cy="640080"/>
          </a:xfrm>
          <a:prstGeom prst="rect">
            <a:avLst/>
          </a:prstGeom>
          <a:noFill/>
        </p:spPr>
        <p:txBody>
          <a:bodyPr wrap="square">
            <a:spAutoFit/>
          </a:bodyPr>
          <a:lstStyle/>
          <a:p>
            <a:pPr algn="l">
              <a:defRPr sz="3200" b="1">
                <a:solidFill>
                  <a:srgbClr val="38BDF8"/>
                </a:solidFill>
                <a:latin typeface="Segoe UI"/>
              </a:defRPr>
            </a:pPr>
            <a:r>
              <a:t>1.24 giây</a:t>
            </a:r>
          </a:p>
        </p:txBody>
      </p:sp>
      <p:sp>
        <p:nvSpPr>
          <p:cNvPr id="10" name="TextBox 9"/>
          <p:cNvSpPr txBox="1"/>
          <p:nvPr/>
        </p:nvSpPr>
        <p:spPr>
          <a:xfrm>
            <a:off x="914400" y="5760720"/>
            <a:ext cx="2103120" cy="365760"/>
          </a:xfrm>
          <a:prstGeom prst="rect">
            <a:avLst/>
          </a:prstGeom>
          <a:noFill/>
        </p:spPr>
        <p:txBody>
          <a:bodyPr wrap="square">
            <a:spAutoFit/>
          </a:bodyPr>
          <a:lstStyle/>
          <a:p>
            <a:pPr algn="l">
              <a:defRPr sz="1200" b="0">
                <a:solidFill>
                  <a:srgbClr val="4ADE80"/>
                </a:solidFill>
                <a:latin typeface="Segoe UI"/>
              </a:defRPr>
            </a:pPr>
            <a:r>
              <a:t>✅ Real-time capable</a:t>
            </a:r>
          </a:p>
        </p:txBody>
      </p:sp>
      <p:sp>
        <p:nvSpPr>
          <p:cNvPr id="11" name="Rounded Rectangle 10"/>
          <p:cNvSpPr/>
          <p:nvPr/>
        </p:nvSpPr>
        <p:spPr>
          <a:xfrm>
            <a:off x="3474720" y="4297680"/>
            <a:ext cx="2468880" cy="2011680"/>
          </a:xfrm>
          <a:prstGeom prst="roundRect">
            <a:avLst>
              <a:gd name="adj" fmla="val 5000"/>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0" y="4480560"/>
            <a:ext cx="2103120" cy="457200"/>
          </a:xfrm>
          <a:prstGeom prst="rect">
            <a:avLst/>
          </a:prstGeom>
          <a:noFill/>
        </p:spPr>
        <p:txBody>
          <a:bodyPr wrap="square">
            <a:spAutoFit/>
          </a:bodyPr>
          <a:lstStyle/>
          <a:p>
            <a:pPr algn="l">
              <a:defRPr sz="1400" b="0">
                <a:solidFill>
                  <a:srgbClr val="64748B"/>
                </a:solidFill>
                <a:latin typeface="Segoe UI"/>
              </a:defRPr>
            </a:pPr>
            <a:r>
              <a:t>🔊 Thời lượng Audio</a:t>
            </a:r>
          </a:p>
        </p:txBody>
      </p:sp>
      <p:sp>
        <p:nvSpPr>
          <p:cNvPr id="13" name="TextBox 12"/>
          <p:cNvSpPr txBox="1"/>
          <p:nvPr/>
        </p:nvSpPr>
        <p:spPr>
          <a:xfrm>
            <a:off x="3657600" y="5029200"/>
            <a:ext cx="2103120" cy="640080"/>
          </a:xfrm>
          <a:prstGeom prst="rect">
            <a:avLst/>
          </a:prstGeom>
          <a:noFill/>
        </p:spPr>
        <p:txBody>
          <a:bodyPr wrap="square">
            <a:spAutoFit/>
          </a:bodyPr>
          <a:lstStyle/>
          <a:p>
            <a:pPr algn="l">
              <a:defRPr sz="3200" b="1">
                <a:solidFill>
                  <a:srgbClr val="4ADE80"/>
                </a:solidFill>
                <a:latin typeface="Segoe UI"/>
              </a:defRPr>
            </a:pPr>
            <a:r>
              <a:t>26.81 giây</a:t>
            </a:r>
          </a:p>
        </p:txBody>
      </p:sp>
      <p:sp>
        <p:nvSpPr>
          <p:cNvPr id="14" name="TextBox 13"/>
          <p:cNvSpPr txBox="1"/>
          <p:nvPr/>
        </p:nvSpPr>
        <p:spPr>
          <a:xfrm>
            <a:off x="3657600" y="5760720"/>
            <a:ext cx="2103120" cy="365760"/>
          </a:xfrm>
          <a:prstGeom prst="rect">
            <a:avLst/>
          </a:prstGeom>
          <a:noFill/>
        </p:spPr>
        <p:txBody>
          <a:bodyPr wrap="square">
            <a:spAutoFit/>
          </a:bodyPr>
          <a:lstStyle/>
          <a:p>
            <a:pPr algn="l">
              <a:defRPr sz="1200" b="0">
                <a:solidFill>
                  <a:srgbClr val="4ADE80"/>
                </a:solidFill>
                <a:latin typeface="Segoe UI"/>
              </a:defRPr>
            </a:pPr>
            <a:r>
              <a:t>✅ Real-time capable</a:t>
            </a:r>
          </a:p>
        </p:txBody>
      </p:sp>
      <p:sp>
        <p:nvSpPr>
          <p:cNvPr id="15" name="Rounded Rectangle 14"/>
          <p:cNvSpPr/>
          <p:nvPr/>
        </p:nvSpPr>
        <p:spPr>
          <a:xfrm>
            <a:off x="6217920" y="4297680"/>
            <a:ext cx="2468880" cy="2011680"/>
          </a:xfrm>
          <a:prstGeom prst="roundRect">
            <a:avLst>
              <a:gd name="adj" fmla="val 5000"/>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4480560"/>
            <a:ext cx="2103120" cy="457200"/>
          </a:xfrm>
          <a:prstGeom prst="rect">
            <a:avLst/>
          </a:prstGeom>
          <a:noFill/>
        </p:spPr>
        <p:txBody>
          <a:bodyPr wrap="square">
            <a:spAutoFit/>
          </a:bodyPr>
          <a:lstStyle/>
          <a:p>
            <a:pPr algn="l">
              <a:defRPr sz="1400" b="0">
                <a:solidFill>
                  <a:srgbClr val="64748B"/>
                </a:solidFill>
                <a:latin typeface="Segoe UI"/>
              </a:defRPr>
            </a:pPr>
            <a:r>
              <a:t>📈 Real-Time Factor</a:t>
            </a:r>
          </a:p>
        </p:txBody>
      </p:sp>
      <p:sp>
        <p:nvSpPr>
          <p:cNvPr id="17" name="TextBox 16"/>
          <p:cNvSpPr txBox="1"/>
          <p:nvPr/>
        </p:nvSpPr>
        <p:spPr>
          <a:xfrm>
            <a:off x="6400800" y="5029200"/>
            <a:ext cx="2103120" cy="640080"/>
          </a:xfrm>
          <a:prstGeom prst="rect">
            <a:avLst/>
          </a:prstGeom>
          <a:noFill/>
        </p:spPr>
        <p:txBody>
          <a:bodyPr wrap="square">
            <a:spAutoFit/>
          </a:bodyPr>
          <a:lstStyle/>
          <a:p>
            <a:pPr algn="l">
              <a:defRPr sz="3200" b="1">
                <a:solidFill>
                  <a:srgbClr val="A78BFA"/>
                </a:solidFill>
                <a:latin typeface="Segoe UI"/>
              </a:defRPr>
            </a:pPr>
            <a:r>
              <a:t>0.046</a:t>
            </a:r>
          </a:p>
        </p:txBody>
      </p:sp>
      <p:sp>
        <p:nvSpPr>
          <p:cNvPr id="18" name="TextBox 17"/>
          <p:cNvSpPr txBox="1"/>
          <p:nvPr/>
        </p:nvSpPr>
        <p:spPr>
          <a:xfrm>
            <a:off x="6400800" y="5760720"/>
            <a:ext cx="2103120" cy="365760"/>
          </a:xfrm>
          <a:prstGeom prst="rect">
            <a:avLst/>
          </a:prstGeom>
          <a:noFill/>
        </p:spPr>
        <p:txBody>
          <a:bodyPr wrap="square">
            <a:spAutoFit/>
          </a:bodyPr>
          <a:lstStyle/>
          <a:p>
            <a:pPr algn="l">
              <a:defRPr sz="1200" b="0">
                <a:solidFill>
                  <a:srgbClr val="4ADE80"/>
                </a:solidFill>
                <a:latin typeface="Segoe UI"/>
              </a:defRPr>
            </a:pPr>
            <a:r>
              <a:t>✅ Real-time capable</a:t>
            </a:r>
          </a:p>
        </p:txBody>
      </p:sp>
      <p:sp>
        <p:nvSpPr>
          <p:cNvPr id="19" name="Rounded Rectangle 18"/>
          <p:cNvSpPr/>
          <p:nvPr/>
        </p:nvSpPr>
        <p:spPr>
          <a:xfrm>
            <a:off x="8961120" y="4297680"/>
            <a:ext cx="2468880" cy="2011680"/>
          </a:xfrm>
          <a:prstGeom prst="roundRect">
            <a:avLst>
              <a:gd name="adj" fmla="val 5000"/>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0" y="4480560"/>
            <a:ext cx="2103120" cy="457200"/>
          </a:xfrm>
          <a:prstGeom prst="rect">
            <a:avLst/>
          </a:prstGeom>
          <a:noFill/>
        </p:spPr>
        <p:txBody>
          <a:bodyPr wrap="square">
            <a:spAutoFit/>
          </a:bodyPr>
          <a:lstStyle/>
          <a:p>
            <a:pPr algn="l">
              <a:defRPr sz="1400" b="0">
                <a:solidFill>
                  <a:srgbClr val="64748B"/>
                </a:solidFill>
                <a:latin typeface="Segoe UI"/>
              </a:defRPr>
            </a:pPr>
            <a:r>
              <a:t>🚀 Nhanh hơn real-time</a:t>
            </a:r>
          </a:p>
        </p:txBody>
      </p:sp>
      <p:sp>
        <p:nvSpPr>
          <p:cNvPr id="21" name="TextBox 20"/>
          <p:cNvSpPr txBox="1"/>
          <p:nvPr/>
        </p:nvSpPr>
        <p:spPr>
          <a:xfrm>
            <a:off x="9144000" y="5029200"/>
            <a:ext cx="2103120" cy="640080"/>
          </a:xfrm>
          <a:prstGeom prst="rect">
            <a:avLst/>
          </a:prstGeom>
          <a:noFill/>
        </p:spPr>
        <p:txBody>
          <a:bodyPr wrap="square">
            <a:spAutoFit/>
          </a:bodyPr>
          <a:lstStyle/>
          <a:p>
            <a:pPr algn="l">
              <a:defRPr sz="3200" b="1">
                <a:solidFill>
                  <a:srgbClr val="FB923C"/>
                </a:solidFill>
                <a:latin typeface="Segoe UI"/>
              </a:defRPr>
            </a:pPr>
            <a:r>
              <a:t>~22 lần</a:t>
            </a:r>
          </a:p>
        </p:txBody>
      </p:sp>
      <p:sp>
        <p:nvSpPr>
          <p:cNvPr id="22" name="TextBox 21"/>
          <p:cNvSpPr txBox="1"/>
          <p:nvPr/>
        </p:nvSpPr>
        <p:spPr>
          <a:xfrm>
            <a:off x="9144000" y="5760720"/>
            <a:ext cx="2103120" cy="365760"/>
          </a:xfrm>
          <a:prstGeom prst="rect">
            <a:avLst/>
          </a:prstGeom>
          <a:noFill/>
        </p:spPr>
        <p:txBody>
          <a:bodyPr wrap="square">
            <a:spAutoFit/>
          </a:bodyPr>
          <a:lstStyle/>
          <a:p>
            <a:pPr algn="l">
              <a:defRPr sz="1200" b="0">
                <a:solidFill>
                  <a:srgbClr val="4ADE80"/>
                </a:solidFill>
                <a:latin typeface="Segoe UI"/>
              </a:defRPr>
            </a:pPr>
            <a:r>
              <a:t>✅ Real-time capable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640080"/>
          </a:xfrm>
          <a:prstGeom prst="rect">
            <a:avLst/>
          </a:prstGeom>
          <a:noFill/>
        </p:spPr>
        <p:txBody>
          <a:bodyPr wrap="square">
            <a:spAutoFit/>
          </a:bodyPr>
          <a:lstStyle/>
          <a:p>
            <a:pPr algn="l">
              <a:defRPr sz="3000" b="1">
                <a:solidFill>
                  <a:srgbClr val="38BDF8"/>
                </a:solidFill>
                <a:latin typeface="Segoe UI"/>
              </a:defRPr>
            </a:pPr>
            <a:r>
              <a:t>06 — Demo &amp; Cách sử dụng</a:t>
            </a:r>
          </a:p>
        </p:txBody>
      </p:sp>
      <p:sp>
        <p:nvSpPr>
          <p:cNvPr id="3" name="Rectangle 2"/>
          <p:cNvSpPr/>
          <p:nvPr/>
        </p:nvSpPr>
        <p:spPr>
          <a:xfrm>
            <a:off x="731520" y="1005840"/>
            <a:ext cx="2286000" cy="381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10515600" cy="1371600"/>
          </a:xfrm>
          <a:prstGeom prst="roundRect">
            <a:avLst>
              <a:gd name="adj" fmla="val 5000"/>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463040"/>
            <a:ext cx="4572000" cy="365760"/>
          </a:xfrm>
          <a:prstGeom prst="rect">
            <a:avLst/>
          </a:prstGeom>
          <a:noFill/>
        </p:spPr>
        <p:txBody>
          <a:bodyPr wrap="square">
            <a:spAutoFit/>
          </a:bodyPr>
          <a:lstStyle/>
          <a:p>
            <a:pPr algn="l">
              <a:defRPr sz="1800" b="1">
                <a:solidFill>
                  <a:srgbClr val="4ADE80"/>
                </a:solidFill>
                <a:latin typeface="Segoe UI"/>
              </a:defRPr>
            </a:pPr>
            <a:r>
              <a:t>🔄  Pipeline TTS</a:t>
            </a:r>
          </a:p>
        </p:txBody>
      </p:sp>
      <p:sp>
        <p:nvSpPr>
          <p:cNvPr id="6" name="Rounded Rectangle 5"/>
          <p:cNvSpPr/>
          <p:nvPr/>
        </p:nvSpPr>
        <p:spPr>
          <a:xfrm>
            <a:off x="914400" y="1920240"/>
            <a:ext cx="1645920" cy="640080"/>
          </a:xfrm>
          <a:prstGeom prst="roundRect">
            <a:avLst>
              <a:gd name="adj" fmla="val 5000"/>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65960"/>
            <a:ext cx="1554480" cy="548640"/>
          </a:xfrm>
          <a:prstGeom prst="rect">
            <a:avLst/>
          </a:prstGeom>
          <a:noFill/>
        </p:spPr>
        <p:txBody>
          <a:bodyPr wrap="square">
            <a:spAutoFit/>
          </a:bodyPr>
          <a:lstStyle/>
          <a:p>
            <a:pPr algn="ctr">
              <a:defRPr sz="1100" b="1">
                <a:solidFill>
                  <a:srgbClr val="0F172A"/>
                </a:solidFill>
                <a:latin typeface="Segoe UI"/>
              </a:defRPr>
            </a:pPr>
            <a:r>
              <a:t>📝 Text Input</a:t>
            </a:r>
          </a:p>
        </p:txBody>
      </p:sp>
      <p:sp>
        <p:nvSpPr>
          <p:cNvPr id="8" name="TextBox 7"/>
          <p:cNvSpPr txBox="1"/>
          <p:nvPr/>
        </p:nvSpPr>
        <p:spPr>
          <a:xfrm>
            <a:off x="2606040" y="2057400"/>
            <a:ext cx="274320" cy="365760"/>
          </a:xfrm>
          <a:prstGeom prst="rect">
            <a:avLst/>
          </a:prstGeom>
          <a:noFill/>
        </p:spPr>
        <p:txBody>
          <a:bodyPr wrap="square">
            <a:spAutoFit/>
          </a:bodyPr>
          <a:lstStyle/>
          <a:p>
            <a:pPr algn="ctr">
              <a:defRPr sz="2000" b="1">
                <a:solidFill>
                  <a:srgbClr val="64748B"/>
                </a:solidFill>
                <a:latin typeface="Segoe UI"/>
              </a:defRPr>
            </a:pPr>
            <a:r>
              <a:t>→</a:t>
            </a:r>
          </a:p>
        </p:txBody>
      </p:sp>
      <p:sp>
        <p:nvSpPr>
          <p:cNvPr id="9" name="Rounded Rectangle 8"/>
          <p:cNvSpPr/>
          <p:nvPr/>
        </p:nvSpPr>
        <p:spPr>
          <a:xfrm>
            <a:off x="2926080" y="1920240"/>
            <a:ext cx="1645920" cy="640080"/>
          </a:xfrm>
          <a:prstGeom prst="roundRect">
            <a:avLst>
              <a:gd name="adj" fmla="val 5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71800" y="1965960"/>
            <a:ext cx="1554480" cy="548640"/>
          </a:xfrm>
          <a:prstGeom prst="rect">
            <a:avLst/>
          </a:prstGeom>
          <a:noFill/>
        </p:spPr>
        <p:txBody>
          <a:bodyPr wrap="square">
            <a:spAutoFit/>
          </a:bodyPr>
          <a:lstStyle/>
          <a:p>
            <a:pPr algn="ctr">
              <a:defRPr sz="1100" b="1">
                <a:solidFill>
                  <a:srgbClr val="0F172A"/>
                </a:solidFill>
                <a:latin typeface="Segoe UI"/>
              </a:defRPr>
            </a:pPr>
            <a:r>
              <a:t>🔤 Phonemize</a:t>
            </a:r>
            <a:br/>
            <a:r>
              <a:t>(espeak-ng)</a:t>
            </a:r>
          </a:p>
        </p:txBody>
      </p:sp>
      <p:sp>
        <p:nvSpPr>
          <p:cNvPr id="11" name="TextBox 10"/>
          <p:cNvSpPr txBox="1"/>
          <p:nvPr/>
        </p:nvSpPr>
        <p:spPr>
          <a:xfrm>
            <a:off x="4617720" y="2057400"/>
            <a:ext cx="274320" cy="365760"/>
          </a:xfrm>
          <a:prstGeom prst="rect">
            <a:avLst/>
          </a:prstGeom>
          <a:noFill/>
        </p:spPr>
        <p:txBody>
          <a:bodyPr wrap="square">
            <a:spAutoFit/>
          </a:bodyPr>
          <a:lstStyle/>
          <a:p>
            <a:pPr algn="ctr">
              <a:defRPr sz="2000" b="1">
                <a:solidFill>
                  <a:srgbClr val="64748B"/>
                </a:solidFill>
                <a:latin typeface="Segoe UI"/>
              </a:defRPr>
            </a:pPr>
            <a:r>
              <a:t>→</a:t>
            </a:r>
          </a:p>
        </p:txBody>
      </p:sp>
      <p:sp>
        <p:nvSpPr>
          <p:cNvPr id="12" name="Rounded Rectangle 11"/>
          <p:cNvSpPr/>
          <p:nvPr/>
        </p:nvSpPr>
        <p:spPr>
          <a:xfrm>
            <a:off x="4937760" y="1920240"/>
            <a:ext cx="1645920" cy="640080"/>
          </a:xfrm>
          <a:prstGeom prst="roundRect">
            <a:avLst>
              <a:gd name="adj" fmla="val 5000"/>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83480" y="1965960"/>
            <a:ext cx="1554480" cy="548640"/>
          </a:xfrm>
          <a:prstGeom prst="rect">
            <a:avLst/>
          </a:prstGeom>
          <a:noFill/>
        </p:spPr>
        <p:txBody>
          <a:bodyPr wrap="square">
            <a:spAutoFit/>
          </a:bodyPr>
          <a:lstStyle/>
          <a:p>
            <a:pPr algn="ctr">
              <a:defRPr sz="1100" b="1">
                <a:solidFill>
                  <a:srgbClr val="0F172A"/>
                </a:solidFill>
                <a:latin typeface="Segoe UI"/>
              </a:defRPr>
            </a:pPr>
            <a:r>
              <a:t>🔢 Phoneme IDs</a:t>
            </a:r>
          </a:p>
        </p:txBody>
      </p:sp>
      <p:sp>
        <p:nvSpPr>
          <p:cNvPr id="14" name="TextBox 13"/>
          <p:cNvSpPr txBox="1"/>
          <p:nvPr/>
        </p:nvSpPr>
        <p:spPr>
          <a:xfrm>
            <a:off x="6629400" y="2057400"/>
            <a:ext cx="274320" cy="365760"/>
          </a:xfrm>
          <a:prstGeom prst="rect">
            <a:avLst/>
          </a:prstGeom>
          <a:noFill/>
        </p:spPr>
        <p:txBody>
          <a:bodyPr wrap="square">
            <a:spAutoFit/>
          </a:bodyPr>
          <a:lstStyle/>
          <a:p>
            <a:pPr algn="ctr">
              <a:defRPr sz="2000" b="1">
                <a:solidFill>
                  <a:srgbClr val="64748B"/>
                </a:solidFill>
                <a:latin typeface="Segoe UI"/>
              </a:defRPr>
            </a:pPr>
            <a:r>
              <a:t>→</a:t>
            </a:r>
          </a:p>
        </p:txBody>
      </p:sp>
      <p:sp>
        <p:nvSpPr>
          <p:cNvPr id="15" name="Rounded Rectangle 14"/>
          <p:cNvSpPr/>
          <p:nvPr/>
        </p:nvSpPr>
        <p:spPr>
          <a:xfrm>
            <a:off x="6949440" y="1920240"/>
            <a:ext cx="1645920" cy="640080"/>
          </a:xfrm>
          <a:prstGeom prst="roundRect">
            <a:avLst>
              <a:gd name="adj" fmla="val 5000"/>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95160" y="1965960"/>
            <a:ext cx="1554480" cy="548640"/>
          </a:xfrm>
          <a:prstGeom prst="rect">
            <a:avLst/>
          </a:prstGeom>
          <a:noFill/>
        </p:spPr>
        <p:txBody>
          <a:bodyPr wrap="square">
            <a:spAutoFit/>
          </a:bodyPr>
          <a:lstStyle/>
          <a:p>
            <a:pPr algn="ctr">
              <a:defRPr sz="1100" b="1">
                <a:solidFill>
                  <a:srgbClr val="0F172A"/>
                </a:solidFill>
                <a:latin typeface="Segoe UI"/>
              </a:defRPr>
            </a:pPr>
            <a:r>
              <a:t>🧠 VITS ONNX</a:t>
            </a:r>
            <a:br/>
            <a:r>
              <a:t>Inference</a:t>
            </a:r>
          </a:p>
        </p:txBody>
      </p:sp>
      <p:sp>
        <p:nvSpPr>
          <p:cNvPr id="17" name="TextBox 16"/>
          <p:cNvSpPr txBox="1"/>
          <p:nvPr/>
        </p:nvSpPr>
        <p:spPr>
          <a:xfrm>
            <a:off x="8641080" y="2057400"/>
            <a:ext cx="274320" cy="365760"/>
          </a:xfrm>
          <a:prstGeom prst="rect">
            <a:avLst/>
          </a:prstGeom>
          <a:noFill/>
        </p:spPr>
        <p:txBody>
          <a:bodyPr wrap="square">
            <a:spAutoFit/>
          </a:bodyPr>
          <a:lstStyle/>
          <a:p>
            <a:pPr algn="ctr">
              <a:defRPr sz="2000" b="1">
                <a:solidFill>
                  <a:srgbClr val="64748B"/>
                </a:solidFill>
                <a:latin typeface="Segoe UI"/>
              </a:defRPr>
            </a:pPr>
            <a:r>
              <a:t>→</a:t>
            </a:r>
          </a:p>
        </p:txBody>
      </p:sp>
      <p:sp>
        <p:nvSpPr>
          <p:cNvPr id="18" name="Rounded Rectangle 17"/>
          <p:cNvSpPr/>
          <p:nvPr/>
        </p:nvSpPr>
        <p:spPr>
          <a:xfrm>
            <a:off x="8961120" y="1920240"/>
            <a:ext cx="1645920" cy="640080"/>
          </a:xfrm>
          <a:prstGeom prst="roundRect">
            <a:avLst>
              <a:gd name="adj" fmla="val 5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06840" y="1965960"/>
            <a:ext cx="1554480" cy="548640"/>
          </a:xfrm>
          <a:prstGeom prst="rect">
            <a:avLst/>
          </a:prstGeom>
          <a:noFill/>
        </p:spPr>
        <p:txBody>
          <a:bodyPr wrap="square">
            <a:spAutoFit/>
          </a:bodyPr>
          <a:lstStyle/>
          <a:p>
            <a:pPr algn="ctr">
              <a:defRPr sz="1100" b="1">
                <a:solidFill>
                  <a:srgbClr val="0F172A"/>
                </a:solidFill>
                <a:latin typeface="Segoe UI"/>
              </a:defRPr>
            </a:pPr>
            <a:r>
              <a:t>🔊 Audio WAV</a:t>
            </a:r>
          </a:p>
        </p:txBody>
      </p:sp>
      <p:sp>
        <p:nvSpPr>
          <p:cNvPr id="20" name="Rounded Rectangle 19"/>
          <p:cNvSpPr/>
          <p:nvPr/>
        </p:nvSpPr>
        <p:spPr>
          <a:xfrm>
            <a:off x="731520" y="3017520"/>
            <a:ext cx="5029200" cy="3383280"/>
          </a:xfrm>
          <a:prstGeom prst="roundRect">
            <a:avLst>
              <a:gd name="adj" fmla="val 5000"/>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3200400"/>
            <a:ext cx="4572000" cy="365760"/>
          </a:xfrm>
          <a:prstGeom prst="rect">
            <a:avLst/>
          </a:prstGeom>
          <a:noFill/>
        </p:spPr>
        <p:txBody>
          <a:bodyPr wrap="square">
            <a:spAutoFit/>
          </a:bodyPr>
          <a:lstStyle/>
          <a:p>
            <a:pPr algn="l">
              <a:defRPr sz="1800" b="1">
                <a:solidFill>
                  <a:srgbClr val="38BDF8"/>
                </a:solidFill>
                <a:latin typeface="Segoe UI"/>
              </a:defRPr>
            </a:pPr>
            <a:r>
              <a:t>💻  Cách chạy</a:t>
            </a:r>
          </a:p>
        </p:txBody>
      </p:sp>
      <p:sp>
        <p:nvSpPr>
          <p:cNvPr id="22" name="TextBox 21"/>
          <p:cNvSpPr txBox="1"/>
          <p:nvPr/>
        </p:nvSpPr>
        <p:spPr>
          <a:xfrm>
            <a:off x="1005840" y="3657600"/>
            <a:ext cx="4572000" cy="2560320"/>
          </a:xfrm>
          <a:prstGeom prst="rect">
            <a:avLst/>
          </a:prstGeom>
          <a:noFill/>
        </p:spPr>
        <p:txBody>
          <a:bodyPr wrap="square">
            <a:spAutoFit/>
          </a:bodyPr>
          <a:lstStyle/>
          <a:p>
            <a:pPr algn="l">
              <a:defRPr sz="1200" b="0">
                <a:solidFill>
                  <a:srgbClr val="4ADE80"/>
                </a:solidFill>
                <a:latin typeface="Consolas"/>
              </a:defRPr>
            </a:pPr>
            <a:r>
              <a:t># Cài đặt</a:t>
            </a:r>
            <a:br/>
            <a:r>
              <a:t>pip install onnxruntime numpy</a:t>
            </a:r>
            <a:br/>
            <a:r>
              <a:t>pip install piper-phonemize-fix</a:t>
            </a:r>
            <a:br/>
            <a:br/>
            <a:r>
              <a:t># Chạy 5 câu mẫu</a:t>
            </a:r>
            <a:br/>
            <a:r>
              <a:t>python test_model.py</a:t>
            </a:r>
            <a:br/>
            <a:br/>
            <a:r>
              <a:t># Chạy câu tùy chọn</a:t>
            </a:r>
            <a:br/>
            <a:r>
              <a:t>python test_model.py "Xin chào"</a:t>
            </a:r>
            <a:br/>
            <a:br/>
            <a:r>
              <a:t># Chế độ interactive</a:t>
            </a:r>
            <a:br/>
            <a:r>
              <a:t>python test_model.py --interactive</a:t>
            </a:r>
          </a:p>
        </p:txBody>
      </p:sp>
      <p:sp>
        <p:nvSpPr>
          <p:cNvPr id="23" name="Rounded Rectangle 22"/>
          <p:cNvSpPr/>
          <p:nvPr/>
        </p:nvSpPr>
        <p:spPr>
          <a:xfrm>
            <a:off x="6126480" y="3017520"/>
            <a:ext cx="5120640" cy="3383280"/>
          </a:xfrm>
          <a:prstGeom prst="roundRect">
            <a:avLst>
              <a:gd name="adj" fmla="val 5000"/>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3200400"/>
            <a:ext cx="4572000" cy="365760"/>
          </a:xfrm>
          <a:prstGeom prst="rect">
            <a:avLst/>
          </a:prstGeom>
          <a:noFill/>
        </p:spPr>
        <p:txBody>
          <a:bodyPr wrap="square">
            <a:spAutoFit/>
          </a:bodyPr>
          <a:lstStyle/>
          <a:p>
            <a:pPr algn="l">
              <a:defRPr sz="1800" b="1">
                <a:solidFill>
                  <a:srgbClr val="FB923C"/>
                </a:solidFill>
                <a:latin typeface="Segoe UI"/>
              </a:defRPr>
            </a:pPr>
            <a:r>
              <a:t>📋  Yêu cầu hệ thống</a:t>
            </a:r>
          </a:p>
        </p:txBody>
      </p:sp>
      <p:sp>
        <p:nvSpPr>
          <p:cNvPr id="25" name="TextBox 24"/>
          <p:cNvSpPr txBox="1"/>
          <p:nvPr/>
        </p:nvSpPr>
        <p:spPr>
          <a:xfrm>
            <a:off x="6400800" y="3657600"/>
            <a:ext cx="4572000" cy="2286000"/>
          </a:xfrm>
          <a:prstGeom prst="rect">
            <a:avLst/>
          </a:prstGeom>
          <a:noFill/>
        </p:spPr>
        <p:txBody>
          <a:bodyPr wrap="square">
            <a:spAutoFit/>
          </a:bodyPr>
          <a:lstStyle/>
          <a:p>
            <a:pPr>
              <a:spcAft>
                <a:spcPts val="800"/>
              </a:spcAft>
              <a:defRPr sz="1400">
                <a:solidFill>
                  <a:srgbClr val="B0B8C8"/>
                </a:solidFill>
                <a:latin typeface="Segoe UI"/>
              </a:defRPr>
            </a:pPr>
            <a:r>
              <a:t>▸  Python 3.11+ (khuyến nghị 3.14)</a:t>
            </a:r>
          </a:p>
          <a:p>
            <a:pPr>
              <a:spcAft>
                <a:spcPts val="800"/>
              </a:spcAft>
              <a:defRPr sz="1400">
                <a:solidFill>
                  <a:srgbClr val="B0B8C8"/>
                </a:solidFill>
                <a:latin typeface="Segoe UI"/>
              </a:defRPr>
            </a:pPr>
            <a:r>
              <a:t>▸  ONNX Runtime 1.28+</a:t>
            </a:r>
          </a:p>
          <a:p>
            <a:pPr>
              <a:spcAft>
                <a:spcPts val="800"/>
              </a:spcAft>
              <a:defRPr sz="1400">
                <a:solidFill>
                  <a:srgbClr val="B0B8C8"/>
                </a:solidFill>
                <a:latin typeface="Segoe UI"/>
              </a:defRPr>
            </a:pPr>
            <a:r>
              <a:t>▸  piper-phonemize-fix (Windows wheel)</a:t>
            </a:r>
          </a:p>
          <a:p>
            <a:pPr>
              <a:spcAft>
                <a:spcPts val="800"/>
              </a:spcAft>
              <a:defRPr sz="1400">
                <a:solidFill>
                  <a:srgbClr val="B0B8C8"/>
                </a:solidFill>
                <a:latin typeface="Segoe UI"/>
              </a:defRPr>
            </a:pPr>
            <a:r>
              <a:t>▸  NumPy, SoundFile</a:t>
            </a:r>
          </a:p>
          <a:p>
            <a:pPr>
              <a:spcAft>
                <a:spcPts val="800"/>
              </a:spcAft>
              <a:defRPr sz="1400">
                <a:solidFill>
                  <a:srgbClr val="B0B8C8"/>
                </a:solidFill>
                <a:latin typeface="Segoe UI"/>
              </a:defRPr>
            </a:pPr>
            <a:r>
              <a:t>▸  GPU: NVIDIA (optional, cần CUDA 13+)</a:t>
            </a:r>
          </a:p>
          <a:p>
            <a:pPr>
              <a:spcAft>
                <a:spcPts val="800"/>
              </a:spcAft>
              <a:defRPr sz="1400">
                <a:solidFill>
                  <a:srgbClr val="B0B8C8"/>
                </a:solidFill>
                <a:latin typeface="Segoe UI"/>
              </a:defRPr>
            </a:pPr>
            <a:r>
              <a:t>▸  RAM: ~500MB cho model inference</a:t>
            </a:r>
          </a:p>
          <a:p>
            <a:pPr>
              <a:spcAft>
                <a:spcPts val="800"/>
              </a:spcAft>
              <a:defRPr sz="1400">
                <a:solidFill>
                  <a:srgbClr val="B0B8C8"/>
                </a:solidFill>
                <a:latin typeface="Segoe UI"/>
              </a:defRPr>
            </a:pPr>
            <a:r>
              <a:t>▸  Disk: ~60MB (ONNX model file)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7315200" cy="640080"/>
          </a:xfrm>
          <a:prstGeom prst="rect">
            <a:avLst/>
          </a:prstGeom>
          <a:noFill/>
        </p:spPr>
        <p:txBody>
          <a:bodyPr wrap="square">
            <a:spAutoFit/>
          </a:bodyPr>
          <a:lstStyle/>
          <a:p>
            <a:pPr algn="l">
              <a:defRPr sz="3000" b="1">
                <a:solidFill>
                  <a:srgbClr val="38BDF8"/>
                </a:solidFill>
                <a:latin typeface="Segoe UI"/>
              </a:defRPr>
            </a:pPr>
            <a:r>
              <a:t>06b — Hướng cải thiện &amp; Kết luận</a:t>
            </a:r>
          </a:p>
        </p:txBody>
      </p:sp>
      <p:sp>
        <p:nvSpPr>
          <p:cNvPr id="3" name="Rectangle 2"/>
          <p:cNvSpPr/>
          <p:nvPr/>
        </p:nvSpPr>
        <p:spPr>
          <a:xfrm>
            <a:off x="731520" y="1005840"/>
            <a:ext cx="2286000" cy="381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5303520" cy="4846320"/>
          </a:xfrm>
          <a:prstGeom prst="roundRect">
            <a:avLst>
              <a:gd name="adj" fmla="val 5000"/>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554480"/>
            <a:ext cx="4572000" cy="457200"/>
          </a:xfrm>
          <a:prstGeom prst="rect">
            <a:avLst/>
          </a:prstGeom>
          <a:noFill/>
        </p:spPr>
        <p:txBody>
          <a:bodyPr wrap="square">
            <a:spAutoFit/>
          </a:bodyPr>
          <a:lstStyle/>
          <a:p>
            <a:pPr algn="l">
              <a:defRPr sz="2200" b="1">
                <a:solidFill>
                  <a:srgbClr val="FB923C"/>
                </a:solidFill>
                <a:latin typeface="Segoe UI"/>
              </a:defRPr>
            </a:pPr>
            <a:r>
              <a:t>🚀  Hướng cải thiện</a:t>
            </a:r>
          </a:p>
        </p:txBody>
      </p:sp>
      <p:sp>
        <p:nvSpPr>
          <p:cNvPr id="6" name="TextBox 5"/>
          <p:cNvSpPr txBox="1"/>
          <p:nvPr/>
        </p:nvSpPr>
        <p:spPr>
          <a:xfrm>
            <a:off x="1005840" y="2103120"/>
            <a:ext cx="4754880" cy="3657600"/>
          </a:xfrm>
          <a:prstGeom prst="rect">
            <a:avLst/>
          </a:prstGeom>
          <a:noFill/>
        </p:spPr>
        <p:txBody>
          <a:bodyPr wrap="square">
            <a:spAutoFit/>
          </a:bodyPr>
          <a:lstStyle/>
          <a:p>
            <a:pPr>
              <a:spcAft>
                <a:spcPts val="800"/>
              </a:spcAft>
              <a:defRPr sz="1400">
                <a:solidFill>
                  <a:srgbClr val="B0B8C8"/>
                </a:solidFill>
                <a:latin typeface="Segoe UI"/>
              </a:defRPr>
            </a:pPr>
            <a:r>
              <a:t>▸  ⭐ Tăng dữ liệu: 10 phút → 3-5 giờ audio</a:t>
            </a:r>
          </a:p>
          <a:p>
            <a:pPr>
              <a:spcAft>
                <a:spcPts val="800"/>
              </a:spcAft>
              <a:defRPr sz="1400">
                <a:solidFill>
                  <a:srgbClr val="B0B8C8"/>
                </a:solidFill>
                <a:latin typeface="Segoe UI"/>
              </a:defRPr>
            </a:pPr>
            <a:r>
              <a:t>▸  ⭐ Train thêm: 4,988 → 15,000-20,000 epochs</a:t>
            </a:r>
          </a:p>
          <a:p>
            <a:pPr>
              <a:spcAft>
                <a:spcPts val="800"/>
              </a:spcAft>
              <a:defRPr sz="1400">
                <a:solidFill>
                  <a:srgbClr val="B0B8C8"/>
                </a:solidFill>
                <a:latin typeface="Segoe UI"/>
              </a:defRPr>
            </a:pPr>
            <a:r>
              <a:t>▸  📊 Đánh giá MOS (Mean Opinion Score)</a:t>
            </a:r>
          </a:p>
          <a:p>
            <a:pPr>
              <a:spcAft>
                <a:spcPts val="800"/>
              </a:spcAft>
              <a:defRPr sz="1400">
                <a:solidFill>
                  <a:srgbClr val="B0B8C8"/>
                </a:solidFill>
                <a:latin typeface="Segoe UI"/>
              </a:defRPr>
            </a:pPr>
            <a:r>
              <a:t>▸  🎯 Thử multi-speaker training</a:t>
            </a:r>
          </a:p>
          <a:p>
            <a:pPr>
              <a:spcAft>
                <a:spcPts val="800"/>
              </a:spcAft>
              <a:defRPr sz="1400">
                <a:solidFill>
                  <a:srgbClr val="B0B8C8"/>
                </a:solidFill>
                <a:latin typeface="Segoe UI"/>
              </a:defRPr>
            </a:pPr>
            <a:r>
              <a:t>▸  ⚡ Tối ưu model: quantization, pruning</a:t>
            </a:r>
          </a:p>
          <a:p>
            <a:pPr>
              <a:spcAft>
                <a:spcPts val="800"/>
              </a:spcAft>
              <a:defRPr sz="1400">
                <a:solidFill>
                  <a:srgbClr val="B0B8C8"/>
                </a:solidFill>
                <a:latin typeface="Segoe UI"/>
              </a:defRPr>
            </a:pPr>
            <a:r>
              <a:t>▸  🌐 Tích hợp API server (FastAPI/Flask)</a:t>
            </a:r>
          </a:p>
          <a:p>
            <a:pPr>
              <a:spcAft>
                <a:spcPts val="800"/>
              </a:spcAft>
              <a:defRPr sz="1400">
                <a:solidFill>
                  <a:srgbClr val="B0B8C8"/>
                </a:solidFill>
                <a:latin typeface="Segoe UI"/>
              </a:defRPr>
            </a:pPr>
            <a:r>
              <a:t>▸  📱 Deploy edge device (mobile, embedded)</a:t>
            </a:r>
          </a:p>
          <a:p>
            <a:pPr>
              <a:spcAft>
                <a:spcPts val="800"/>
              </a:spcAft>
              <a:defRPr sz="1400">
                <a:solidFill>
                  <a:srgbClr val="B0B8C8"/>
                </a:solidFill>
                <a:latin typeface="Segoe UI"/>
              </a:defRPr>
            </a:pPr>
            <a:r>
              <a:t>▸  🔧 Fine-tune learning rate scheduling</a:t>
            </a:r>
          </a:p>
        </p:txBody>
      </p:sp>
      <p:sp>
        <p:nvSpPr>
          <p:cNvPr id="7" name="Rounded Rectangle 6"/>
          <p:cNvSpPr/>
          <p:nvPr/>
        </p:nvSpPr>
        <p:spPr>
          <a:xfrm>
            <a:off x="6400800" y="1371600"/>
            <a:ext cx="5029200" cy="4846320"/>
          </a:xfrm>
          <a:prstGeom prst="roundRect">
            <a:avLst>
              <a:gd name="adj" fmla="val 5000"/>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1554480"/>
            <a:ext cx="4572000" cy="457200"/>
          </a:xfrm>
          <a:prstGeom prst="rect">
            <a:avLst/>
          </a:prstGeom>
          <a:noFill/>
        </p:spPr>
        <p:txBody>
          <a:bodyPr wrap="square">
            <a:spAutoFit/>
          </a:bodyPr>
          <a:lstStyle/>
          <a:p>
            <a:pPr algn="l">
              <a:defRPr sz="2200" b="1">
                <a:solidFill>
                  <a:srgbClr val="4ADE80"/>
                </a:solidFill>
                <a:latin typeface="Segoe UI"/>
              </a:defRPr>
            </a:pPr>
            <a:r>
              <a:t>✅  Kết luận</a:t>
            </a:r>
          </a:p>
        </p:txBody>
      </p:sp>
      <p:sp>
        <p:nvSpPr>
          <p:cNvPr id="9" name="TextBox 8"/>
          <p:cNvSpPr txBox="1"/>
          <p:nvPr/>
        </p:nvSpPr>
        <p:spPr>
          <a:xfrm>
            <a:off x="6675120" y="2103120"/>
            <a:ext cx="4572000" cy="3657600"/>
          </a:xfrm>
          <a:prstGeom prst="rect">
            <a:avLst/>
          </a:prstGeom>
          <a:noFill/>
        </p:spPr>
        <p:txBody>
          <a:bodyPr wrap="square">
            <a:spAutoFit/>
          </a:bodyPr>
          <a:lstStyle/>
          <a:p>
            <a:pPr>
              <a:spcAft>
                <a:spcPts val="800"/>
              </a:spcAft>
              <a:defRPr sz="1400">
                <a:solidFill>
                  <a:srgbClr val="B0B8C8"/>
                </a:solidFill>
                <a:latin typeface="Segoe UI"/>
              </a:defRPr>
            </a:pPr>
            <a:r>
              <a:t>▸  Đã xây dựng thành công mô hình VITS TTS</a:t>
            </a:r>
            <a:br/>
            <a:r>
              <a:t>cho tiếng Việt</a:t>
            </a:r>
          </a:p>
          <a:p>
            <a:pPr>
              <a:spcAft>
                <a:spcPts val="800"/>
              </a:spcAft>
              <a:defRPr sz="1400">
                <a:solidFill>
                  <a:srgbClr val="B0B8C8"/>
                </a:solidFill>
                <a:latin typeface="Segoe UI"/>
              </a:defRPr>
            </a:pPr>
            <a:r>
              <a:t>▸  Export ONNX cho phép deploy linh hoạt</a:t>
            </a:r>
            <a:br/>
            <a:r>
              <a:t>trên nhiều nền tảng</a:t>
            </a:r>
          </a:p>
          <a:p>
            <a:pPr>
              <a:spcAft>
                <a:spcPts val="800"/>
              </a:spcAft>
              <a:defRPr sz="1400">
                <a:solidFill>
                  <a:srgbClr val="B0B8C8"/>
                </a:solidFill>
                <a:latin typeface="Segoe UI"/>
              </a:defRPr>
            </a:pPr>
            <a:r>
              <a:t>▸  Inference nhanh: RTF ~0.04</a:t>
            </a:r>
            <a:br/>
            <a:r>
              <a:t>(nhanh hơn real-time 22 lần)</a:t>
            </a:r>
          </a:p>
          <a:p>
            <a:pPr>
              <a:spcAft>
                <a:spcPts val="800"/>
              </a:spcAft>
              <a:defRPr sz="1400">
                <a:solidFill>
                  <a:srgbClr val="B0B8C8"/>
                </a:solidFill>
                <a:latin typeface="Segoe UI"/>
              </a:defRPr>
            </a:pPr>
            <a:r>
              <a:t>▸  Hỗ trợ phonemize tiếng Việt chính xác</a:t>
            </a:r>
            <a:br/>
            <a:r>
              <a:t>với espeak-ng</a:t>
            </a:r>
          </a:p>
          <a:p>
            <a:pPr>
              <a:spcAft>
                <a:spcPts val="800"/>
              </a:spcAft>
              <a:defRPr sz="1400">
                <a:solidFill>
                  <a:srgbClr val="B0B8C8"/>
                </a:solidFill>
                <a:latin typeface="Segoe UI"/>
              </a:defRPr>
            </a:pPr>
            <a:r>
              <a:t>▸  Cơ sở tốt để phát triển thêm:</a:t>
            </a:r>
            <a:br/>
            <a:r>
              <a:t>thêm data, train epochs, multi-speaker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011680"/>
            <a:ext cx="9144000" cy="914400"/>
          </a:xfrm>
          <a:prstGeom prst="rect">
            <a:avLst/>
          </a:prstGeom>
          <a:noFill/>
        </p:spPr>
        <p:txBody>
          <a:bodyPr wrap="square">
            <a:spAutoFit/>
          </a:bodyPr>
          <a:lstStyle/>
          <a:p>
            <a:pPr algn="ctr">
              <a:defRPr sz="4400" b="1">
                <a:solidFill>
                  <a:srgbClr val="38BDF8"/>
                </a:solidFill>
                <a:latin typeface="Segoe UI"/>
              </a:defRPr>
            </a:pPr>
            <a:r>
              <a:t>🙏  Cảm ơn đã lắng nghe!</a:t>
            </a:r>
          </a:p>
        </p:txBody>
      </p:sp>
      <p:sp>
        <p:nvSpPr>
          <p:cNvPr id="4" name="TextBox 3"/>
          <p:cNvSpPr txBox="1"/>
          <p:nvPr/>
        </p:nvSpPr>
        <p:spPr>
          <a:xfrm>
            <a:off x="1371600" y="3200400"/>
            <a:ext cx="9144000" cy="640080"/>
          </a:xfrm>
          <a:prstGeom prst="rect">
            <a:avLst/>
          </a:prstGeom>
          <a:noFill/>
        </p:spPr>
        <p:txBody>
          <a:bodyPr wrap="square">
            <a:spAutoFit/>
          </a:bodyPr>
          <a:lstStyle/>
          <a:p>
            <a:pPr algn="ctr">
              <a:defRPr sz="2400" b="0">
                <a:solidFill>
                  <a:srgbClr val="FFFFFF"/>
                </a:solidFill>
                <a:latin typeface="Segoe UI"/>
              </a:defRPr>
            </a:pPr>
            <a:r>
              <a:t>Dự án VITS Text-to-Speech Tiếng Việt</a:t>
            </a:r>
          </a:p>
        </p:txBody>
      </p:sp>
      <p:sp>
        <p:nvSpPr>
          <p:cNvPr id="5" name="Rectangle 4"/>
          <p:cNvSpPr/>
          <p:nvPr/>
        </p:nvSpPr>
        <p:spPr>
          <a:xfrm>
            <a:off x="5029200" y="4023360"/>
            <a:ext cx="2286000" cy="381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4572000"/>
            <a:ext cx="9144000" cy="457200"/>
          </a:xfrm>
          <a:prstGeom prst="rect">
            <a:avLst/>
          </a:prstGeom>
          <a:noFill/>
        </p:spPr>
        <p:txBody>
          <a:bodyPr wrap="square">
            <a:spAutoFit/>
          </a:bodyPr>
          <a:lstStyle/>
          <a:p>
            <a:pPr algn="ctr">
              <a:defRPr sz="2000" b="0">
                <a:solidFill>
                  <a:srgbClr val="B0B8C8"/>
                </a:solidFill>
                <a:latin typeface="Segoe UI"/>
              </a:defRPr>
            </a:pPr>
            <a:r>
              <a:t>Q &amp; A — Câu hỏi và thảo luận</a:t>
            </a:r>
          </a:p>
        </p:txBody>
      </p:sp>
      <p:sp>
        <p:nvSpPr>
          <p:cNvPr id="7" name="TextBox 6"/>
          <p:cNvSpPr txBox="1"/>
          <p:nvPr/>
        </p:nvSpPr>
        <p:spPr>
          <a:xfrm>
            <a:off x="1371600" y="5669280"/>
            <a:ext cx="9144000" cy="365760"/>
          </a:xfrm>
          <a:prstGeom prst="rect">
            <a:avLst/>
          </a:prstGeom>
          <a:noFill/>
        </p:spPr>
        <p:txBody>
          <a:bodyPr wrap="square">
            <a:spAutoFit/>
          </a:bodyPr>
          <a:lstStyle/>
          <a:p>
            <a:pPr algn="ctr">
              <a:defRPr sz="1400" b="0">
                <a:solidFill>
                  <a:srgbClr val="64748B"/>
                </a:solidFill>
                <a:latin typeface="Segoe UI"/>
              </a:defRPr>
            </a:pPr>
            <a:r>
              <a:t>Framework: Piper TTS  |  Model: VITS  |  Runtime: ONNX  |  Language: Vietnamese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